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258" r:id="rId3"/>
    <p:sldId id="260" r:id="rId4"/>
    <p:sldId id="259" r:id="rId5"/>
    <p:sldId id="295" r:id="rId6"/>
    <p:sldId id="263" r:id="rId7"/>
    <p:sldId id="264" r:id="rId8"/>
    <p:sldId id="265" r:id="rId9"/>
    <p:sldId id="268" r:id="rId10"/>
    <p:sldId id="269" r:id="rId11"/>
    <p:sldId id="270" r:id="rId12"/>
    <p:sldId id="271" r:id="rId13"/>
    <p:sldId id="296" r:id="rId14"/>
    <p:sldId id="297" r:id="rId15"/>
    <p:sldId id="273" r:id="rId16"/>
    <p:sldId id="272" r:id="rId17"/>
    <p:sldId id="298" r:id="rId18"/>
    <p:sldId id="299" r:id="rId19"/>
    <p:sldId id="300" r:id="rId20"/>
    <p:sldId id="301" r:id="rId21"/>
    <p:sldId id="302" r:id="rId22"/>
    <p:sldId id="303" r:id="rId23"/>
    <p:sldId id="304" r:id="rId24"/>
    <p:sldId id="274" r:id="rId25"/>
    <p:sldId id="280" r:id="rId26"/>
    <p:sldId id="305" r:id="rId27"/>
    <p:sldId id="306" r:id="rId28"/>
    <p:sldId id="307" r:id="rId29"/>
    <p:sldId id="308" r:id="rId30"/>
    <p:sldId id="309" r:id="rId31"/>
    <p:sldId id="292" r:id="rId32"/>
    <p:sldId id="293" r:id="rId33"/>
    <p:sldId id="281" r:id="rId34"/>
    <p:sldId id="294"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9462" autoAdjust="0"/>
  </p:normalViewPr>
  <p:slideViewPr>
    <p:cSldViewPr>
      <p:cViewPr>
        <p:scale>
          <a:sx n="66" d="100"/>
          <a:sy n="66" d="100"/>
        </p:scale>
        <p:origin x="-1276" y="-10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05"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806"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FF585F-A81C-45EA-B07F-32E27AA2D643}" type="datetimeFigureOut">
              <a:rPr lang="en-US" smtClean="0"/>
              <a:pPr/>
              <a:t>9/16/2024</a:t>
            </a:fld>
            <a:endParaRPr lang="en-US"/>
          </a:p>
        </p:txBody>
      </p:sp>
      <p:sp>
        <p:nvSpPr>
          <p:cNvPr id="1048807"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808"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9"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810"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0AD770-50C0-4BF7-A7CD-301044546B91}" type="slidenum">
              <a:rPr lang="en-US" smtClean="0"/>
              <a:pPr/>
              <a:t>‹#›</a:t>
            </a:fld>
            <a:endParaRPr lang="en-US"/>
          </a:p>
        </p:txBody>
      </p:sp>
    </p:spTree>
    <p:extLst>
      <p:ext uri="{BB962C8B-B14F-4D97-AF65-F5344CB8AC3E}">
        <p14:creationId xmlns:p14="http://schemas.microsoft.com/office/powerpoint/2010/main" val="1771774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Slide Image Placeholder 1"/>
          <p:cNvSpPr>
            <a:spLocks noGrp="1" noRot="1" noChangeAspect="1"/>
          </p:cNvSpPr>
          <p:nvPr>
            <p:ph type="sldImg"/>
          </p:nvPr>
        </p:nvSpPr>
        <p:spPr/>
      </p:sp>
      <p:sp>
        <p:nvSpPr>
          <p:cNvPr id="1048595" name="Notes Placeholder 2"/>
          <p:cNvSpPr>
            <a:spLocks noGrp="1"/>
          </p:cNvSpPr>
          <p:nvPr>
            <p:ph type="body" idx="1"/>
          </p:nvPr>
        </p:nvSpPr>
        <p:spPr/>
        <p:txBody>
          <a:bodyPr>
            <a:normAutofit/>
          </a:bodyPr>
          <a:lstStyle/>
          <a:p>
            <a:endParaRPr lang="en-US" dirty="0"/>
          </a:p>
        </p:txBody>
      </p:sp>
      <p:sp>
        <p:nvSpPr>
          <p:cNvPr id="1048596" name="Slide Number Placeholder 3"/>
          <p:cNvSpPr>
            <a:spLocks noGrp="1"/>
          </p:cNvSpPr>
          <p:nvPr>
            <p:ph type="sldNum" sz="quarter" idx="10"/>
          </p:nvPr>
        </p:nvSpPr>
        <p:spPr/>
        <p:txBody>
          <a:bodyPr/>
          <a:lstStyle/>
          <a:p>
            <a:fld id="{C30AD770-50C0-4BF7-A7CD-301044546B91}"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Slide Image Placeholder 1"/>
          <p:cNvSpPr>
            <a:spLocks noGrp="1" noRot="1" noChangeAspect="1"/>
          </p:cNvSpPr>
          <p:nvPr>
            <p:ph type="sldImg"/>
          </p:nvPr>
        </p:nvSpPr>
        <p:spPr/>
      </p:sp>
      <p:sp>
        <p:nvSpPr>
          <p:cNvPr id="1048636" name="Notes Placeholder 2"/>
          <p:cNvSpPr>
            <a:spLocks noGrp="1"/>
          </p:cNvSpPr>
          <p:nvPr>
            <p:ph type="body" idx="1"/>
          </p:nvPr>
        </p:nvSpPr>
        <p:spPr/>
        <p:txBody>
          <a:bodyPr>
            <a:normAutofit/>
          </a:bodyPr>
          <a:lstStyle/>
          <a:p>
            <a:endParaRPr lang="en-US" dirty="0"/>
          </a:p>
        </p:txBody>
      </p:sp>
      <p:sp>
        <p:nvSpPr>
          <p:cNvPr id="1048637" name="Slide Number Placeholder 3"/>
          <p:cNvSpPr>
            <a:spLocks noGrp="1"/>
          </p:cNvSpPr>
          <p:nvPr>
            <p:ph type="sldNum" sz="quarter" idx="10"/>
          </p:nvPr>
        </p:nvSpPr>
        <p:spPr/>
        <p:txBody>
          <a:bodyPr/>
          <a:lstStyle/>
          <a:p>
            <a:fld id="{C30AD770-50C0-4BF7-A7CD-301044546B91}" type="slidenum">
              <a:rPr lang="en-US" smtClean="0"/>
              <a:pPr/>
              <a:t>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82"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583" name="Date Placeholder 3"/>
          <p:cNvSpPr>
            <a:spLocks noGrp="1"/>
          </p:cNvSpPr>
          <p:nvPr>
            <p:ph type="dt" sz="half" idx="10"/>
          </p:nvPr>
        </p:nvSpPr>
        <p:spPr/>
        <p:txBody>
          <a:bodyPr/>
          <a:lstStyle/>
          <a:p>
            <a:fld id="{5B3C80FA-5DBA-43E6-A84F-F04516240DD6}" type="datetime5">
              <a:rPr lang="en-US" smtClean="0"/>
              <a:t>16-Sep-24</a:t>
            </a:fld>
            <a:endParaRPr lang="en-US"/>
          </a:p>
        </p:txBody>
      </p:sp>
      <p:sp>
        <p:nvSpPr>
          <p:cNvPr id="1048584" name="Footer Placeholder 4"/>
          <p:cNvSpPr>
            <a:spLocks noGrp="1"/>
          </p:cNvSpPr>
          <p:nvPr>
            <p:ph type="ftr" sz="quarter" idx="11"/>
          </p:nvPr>
        </p:nvSpPr>
        <p:spPr/>
        <p:txBody>
          <a:bodyPr/>
          <a:lstStyle/>
          <a:p>
            <a:r>
              <a:rPr lang="en-US"/>
              <a:t>18602102, 18602135</a:t>
            </a:r>
          </a:p>
        </p:txBody>
      </p:sp>
      <p:sp>
        <p:nvSpPr>
          <p:cNvPr id="1048585" name="Slide Number Placeholder 5"/>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7" name="Title 1"/>
          <p:cNvSpPr>
            <a:spLocks noGrp="1"/>
          </p:cNvSpPr>
          <p:nvPr>
            <p:ph type="title"/>
          </p:nvPr>
        </p:nvSpPr>
        <p:spPr/>
        <p:txBody>
          <a:bodyPr/>
          <a:lstStyle/>
          <a:p>
            <a:r>
              <a:rPr lang="en-US"/>
              <a:t>Click to edit Master title style</a:t>
            </a:r>
          </a:p>
        </p:txBody>
      </p:sp>
      <p:sp>
        <p:nvSpPr>
          <p:cNvPr id="1048598"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9" name="Date Placeholder 3"/>
          <p:cNvSpPr>
            <a:spLocks noGrp="1"/>
          </p:cNvSpPr>
          <p:nvPr>
            <p:ph type="dt" sz="half" idx="10"/>
          </p:nvPr>
        </p:nvSpPr>
        <p:spPr/>
        <p:txBody>
          <a:bodyPr/>
          <a:lstStyle/>
          <a:p>
            <a:fld id="{68E9BF6A-6B18-41BC-8E15-EAE1CF6A234D}" type="datetime5">
              <a:rPr lang="en-US" smtClean="0"/>
              <a:t>16-Sep-24</a:t>
            </a:fld>
            <a:endParaRPr lang="en-US"/>
          </a:p>
        </p:txBody>
      </p:sp>
      <p:sp>
        <p:nvSpPr>
          <p:cNvPr id="1048600" name="Footer Placeholder 4"/>
          <p:cNvSpPr>
            <a:spLocks noGrp="1"/>
          </p:cNvSpPr>
          <p:nvPr>
            <p:ph type="ftr" sz="quarter" idx="11"/>
          </p:nvPr>
        </p:nvSpPr>
        <p:spPr/>
        <p:txBody>
          <a:bodyPr/>
          <a:lstStyle/>
          <a:p>
            <a:r>
              <a:rPr lang="en-US"/>
              <a:t>18602102, 18602135</a:t>
            </a:r>
          </a:p>
        </p:txBody>
      </p:sp>
      <p:sp>
        <p:nvSpPr>
          <p:cNvPr id="1048601" name="Slide Number Placeholder 5"/>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80"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81"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2" name="Date Placeholder 3"/>
          <p:cNvSpPr>
            <a:spLocks noGrp="1"/>
          </p:cNvSpPr>
          <p:nvPr>
            <p:ph type="dt" sz="half" idx="10"/>
          </p:nvPr>
        </p:nvSpPr>
        <p:spPr/>
        <p:txBody>
          <a:bodyPr/>
          <a:lstStyle/>
          <a:p>
            <a:fld id="{4F62D66D-5B33-4B8B-8BB6-C6AEDEDCC970}" type="datetime5">
              <a:rPr lang="en-US" smtClean="0"/>
              <a:t>16-Sep-24</a:t>
            </a:fld>
            <a:endParaRPr lang="en-US"/>
          </a:p>
        </p:txBody>
      </p:sp>
      <p:sp>
        <p:nvSpPr>
          <p:cNvPr id="1048783" name="Footer Placeholder 4"/>
          <p:cNvSpPr>
            <a:spLocks noGrp="1"/>
          </p:cNvSpPr>
          <p:nvPr>
            <p:ph type="ftr" sz="quarter" idx="11"/>
          </p:nvPr>
        </p:nvSpPr>
        <p:spPr/>
        <p:txBody>
          <a:bodyPr/>
          <a:lstStyle/>
          <a:p>
            <a:r>
              <a:rPr lang="en-US"/>
              <a:t>18602102, 18602135</a:t>
            </a:r>
          </a:p>
        </p:txBody>
      </p:sp>
      <p:sp>
        <p:nvSpPr>
          <p:cNvPr id="1048784" name="Slide Number Placeholder 5"/>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85" name="Title 1"/>
          <p:cNvSpPr>
            <a:spLocks noGrp="1"/>
          </p:cNvSpPr>
          <p:nvPr>
            <p:ph type="title"/>
          </p:nvPr>
        </p:nvSpPr>
        <p:spPr/>
        <p:txBody>
          <a:bodyPr/>
          <a:lstStyle/>
          <a:p>
            <a:r>
              <a:rPr lang="en-US"/>
              <a:t>Click to edit Master title style</a:t>
            </a:r>
          </a:p>
        </p:txBody>
      </p:sp>
      <p:sp>
        <p:nvSpPr>
          <p:cNvPr id="1048786"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7"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8" name="Date Placeholder 4"/>
          <p:cNvSpPr>
            <a:spLocks noGrp="1"/>
          </p:cNvSpPr>
          <p:nvPr>
            <p:ph type="dt" sz="half" idx="10"/>
          </p:nvPr>
        </p:nvSpPr>
        <p:spPr/>
        <p:txBody>
          <a:bodyPr/>
          <a:lstStyle/>
          <a:p>
            <a:fld id="{154788AF-874B-44F0-B5BD-EADDCA83F0A2}" type="datetime5">
              <a:rPr lang="en-US" smtClean="0"/>
              <a:t>16-Sep-24</a:t>
            </a:fld>
            <a:endParaRPr lang="en-US"/>
          </a:p>
        </p:txBody>
      </p:sp>
      <p:sp>
        <p:nvSpPr>
          <p:cNvPr id="1048789" name="Footer Placeholder 5"/>
          <p:cNvSpPr>
            <a:spLocks noGrp="1"/>
          </p:cNvSpPr>
          <p:nvPr>
            <p:ph type="ftr" sz="quarter" idx="11"/>
          </p:nvPr>
        </p:nvSpPr>
        <p:spPr/>
        <p:txBody>
          <a:bodyPr/>
          <a:lstStyle/>
          <a:p>
            <a:r>
              <a:rPr lang="en-US"/>
              <a:t>18602102, 18602135</a:t>
            </a:r>
          </a:p>
        </p:txBody>
      </p:sp>
      <p:sp>
        <p:nvSpPr>
          <p:cNvPr id="1048790" name="Slide Number Placeholder 6"/>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91" name="Title 1"/>
          <p:cNvSpPr>
            <a:spLocks noGrp="1"/>
          </p:cNvSpPr>
          <p:nvPr>
            <p:ph type="title"/>
          </p:nvPr>
        </p:nvSpPr>
        <p:spPr/>
        <p:txBody>
          <a:bodyPr/>
          <a:lstStyle/>
          <a:p>
            <a:r>
              <a:rPr lang="en-US"/>
              <a:t>Click to edit Master title style</a:t>
            </a:r>
          </a:p>
        </p:txBody>
      </p:sp>
      <p:sp>
        <p:nvSpPr>
          <p:cNvPr id="104879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9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9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6"/>
          <p:cNvSpPr>
            <a:spLocks noGrp="1"/>
          </p:cNvSpPr>
          <p:nvPr>
            <p:ph type="dt" sz="half" idx="10"/>
          </p:nvPr>
        </p:nvSpPr>
        <p:spPr/>
        <p:txBody>
          <a:bodyPr/>
          <a:lstStyle/>
          <a:p>
            <a:fld id="{E9E9B38E-7D47-433A-8BB0-389EF653341C}" type="datetime5">
              <a:rPr lang="en-US" smtClean="0"/>
              <a:t>16-Sep-24</a:t>
            </a:fld>
            <a:endParaRPr lang="en-US"/>
          </a:p>
        </p:txBody>
      </p:sp>
      <p:sp>
        <p:nvSpPr>
          <p:cNvPr id="1048797" name="Footer Placeholder 7"/>
          <p:cNvSpPr>
            <a:spLocks noGrp="1"/>
          </p:cNvSpPr>
          <p:nvPr>
            <p:ph type="ftr" sz="quarter" idx="11"/>
          </p:nvPr>
        </p:nvSpPr>
        <p:spPr/>
        <p:txBody>
          <a:bodyPr/>
          <a:lstStyle/>
          <a:p>
            <a:r>
              <a:rPr lang="en-US"/>
              <a:t>18602102, 18602135</a:t>
            </a:r>
          </a:p>
        </p:txBody>
      </p:sp>
      <p:sp>
        <p:nvSpPr>
          <p:cNvPr id="1048798" name="Slide Number Placeholder 8"/>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60" name="Title 1"/>
          <p:cNvSpPr>
            <a:spLocks noGrp="1"/>
          </p:cNvSpPr>
          <p:nvPr>
            <p:ph type="title"/>
          </p:nvPr>
        </p:nvSpPr>
        <p:spPr/>
        <p:txBody>
          <a:bodyPr/>
          <a:lstStyle/>
          <a:p>
            <a:r>
              <a:rPr lang="en-US"/>
              <a:t>Click to edit Master title style</a:t>
            </a:r>
          </a:p>
        </p:txBody>
      </p:sp>
      <p:sp>
        <p:nvSpPr>
          <p:cNvPr id="1048761" name="Date Placeholder 2"/>
          <p:cNvSpPr>
            <a:spLocks noGrp="1"/>
          </p:cNvSpPr>
          <p:nvPr>
            <p:ph type="dt" sz="half" idx="10"/>
          </p:nvPr>
        </p:nvSpPr>
        <p:spPr/>
        <p:txBody>
          <a:bodyPr/>
          <a:lstStyle/>
          <a:p>
            <a:fld id="{9B16CC43-86AB-42FC-9590-F6CC5270694F}" type="datetime5">
              <a:rPr lang="en-US" smtClean="0"/>
              <a:t>16-Sep-24</a:t>
            </a:fld>
            <a:endParaRPr lang="en-US"/>
          </a:p>
        </p:txBody>
      </p:sp>
      <p:sp>
        <p:nvSpPr>
          <p:cNvPr id="1048762" name="Footer Placeholder 3"/>
          <p:cNvSpPr>
            <a:spLocks noGrp="1"/>
          </p:cNvSpPr>
          <p:nvPr>
            <p:ph type="ftr" sz="quarter" idx="11"/>
          </p:nvPr>
        </p:nvSpPr>
        <p:spPr/>
        <p:txBody>
          <a:bodyPr/>
          <a:lstStyle/>
          <a:p>
            <a:r>
              <a:rPr lang="en-US"/>
              <a:t>18602102, 18602135</a:t>
            </a:r>
          </a:p>
        </p:txBody>
      </p:sp>
      <p:sp>
        <p:nvSpPr>
          <p:cNvPr id="1048763" name="Slide Number Placeholder 4"/>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21" name="Date Placeholder 1"/>
          <p:cNvSpPr>
            <a:spLocks noGrp="1"/>
          </p:cNvSpPr>
          <p:nvPr>
            <p:ph type="dt" sz="half" idx="10"/>
          </p:nvPr>
        </p:nvSpPr>
        <p:spPr/>
        <p:txBody>
          <a:bodyPr/>
          <a:lstStyle/>
          <a:p>
            <a:fld id="{3B9C986A-3B3E-435F-A865-6B52D7CF7C81}" type="datetime5">
              <a:rPr lang="en-US" smtClean="0"/>
              <a:t>16-Sep-24</a:t>
            </a:fld>
            <a:endParaRPr lang="en-US"/>
          </a:p>
        </p:txBody>
      </p:sp>
      <p:sp>
        <p:nvSpPr>
          <p:cNvPr id="1048622" name="Footer Placeholder 2"/>
          <p:cNvSpPr>
            <a:spLocks noGrp="1"/>
          </p:cNvSpPr>
          <p:nvPr>
            <p:ph type="ftr" sz="quarter" idx="11"/>
          </p:nvPr>
        </p:nvSpPr>
        <p:spPr/>
        <p:txBody>
          <a:bodyPr/>
          <a:lstStyle/>
          <a:p>
            <a:r>
              <a:rPr lang="en-US"/>
              <a:t>18602102, 18602135</a:t>
            </a:r>
          </a:p>
        </p:txBody>
      </p:sp>
      <p:sp>
        <p:nvSpPr>
          <p:cNvPr id="1048623" name="Slide Number Placeholder 3"/>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99"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800"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1"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802" name="Date Placeholder 4"/>
          <p:cNvSpPr>
            <a:spLocks noGrp="1"/>
          </p:cNvSpPr>
          <p:nvPr>
            <p:ph type="dt" sz="half" idx="10"/>
          </p:nvPr>
        </p:nvSpPr>
        <p:spPr/>
        <p:txBody>
          <a:bodyPr/>
          <a:lstStyle/>
          <a:p>
            <a:fld id="{13DD898A-4C31-417B-8102-469EA3DFB155}" type="datetime5">
              <a:rPr lang="en-US" smtClean="0"/>
              <a:t>16-Sep-24</a:t>
            </a:fld>
            <a:endParaRPr lang="en-US"/>
          </a:p>
        </p:txBody>
      </p:sp>
      <p:sp>
        <p:nvSpPr>
          <p:cNvPr id="1048803" name="Footer Placeholder 5"/>
          <p:cNvSpPr>
            <a:spLocks noGrp="1"/>
          </p:cNvSpPr>
          <p:nvPr>
            <p:ph type="ftr" sz="quarter" idx="11"/>
          </p:nvPr>
        </p:nvSpPr>
        <p:spPr/>
        <p:txBody>
          <a:bodyPr/>
          <a:lstStyle/>
          <a:p>
            <a:r>
              <a:rPr lang="en-US"/>
              <a:t>18602102, 18602135</a:t>
            </a:r>
          </a:p>
        </p:txBody>
      </p:sp>
      <p:sp>
        <p:nvSpPr>
          <p:cNvPr id="1048804" name="Slide Number Placeholder 6"/>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69"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770"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71"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72" name="Date Placeholder 4"/>
          <p:cNvSpPr>
            <a:spLocks noGrp="1"/>
          </p:cNvSpPr>
          <p:nvPr>
            <p:ph type="dt" sz="half" idx="10"/>
          </p:nvPr>
        </p:nvSpPr>
        <p:spPr/>
        <p:txBody>
          <a:bodyPr/>
          <a:lstStyle/>
          <a:p>
            <a:fld id="{048C6745-F556-4CDB-B676-3E3F2352642E}" type="datetime5">
              <a:rPr lang="en-US" smtClean="0"/>
              <a:t>16-Sep-24</a:t>
            </a:fld>
            <a:endParaRPr lang="en-US"/>
          </a:p>
        </p:txBody>
      </p:sp>
      <p:sp>
        <p:nvSpPr>
          <p:cNvPr id="1048773" name="Footer Placeholder 5"/>
          <p:cNvSpPr>
            <a:spLocks noGrp="1"/>
          </p:cNvSpPr>
          <p:nvPr>
            <p:ph type="ftr" sz="quarter" idx="11"/>
          </p:nvPr>
        </p:nvSpPr>
        <p:spPr/>
        <p:txBody>
          <a:bodyPr/>
          <a:lstStyle/>
          <a:p>
            <a:r>
              <a:rPr lang="en-US"/>
              <a:t>18602102, 18602135</a:t>
            </a:r>
          </a:p>
        </p:txBody>
      </p:sp>
      <p:sp>
        <p:nvSpPr>
          <p:cNvPr id="1048774" name="Slide Number Placeholder 6"/>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75" name="Title 1"/>
          <p:cNvSpPr>
            <a:spLocks noGrp="1"/>
          </p:cNvSpPr>
          <p:nvPr>
            <p:ph type="title"/>
          </p:nvPr>
        </p:nvSpPr>
        <p:spPr/>
        <p:txBody>
          <a:bodyPr/>
          <a:lstStyle/>
          <a:p>
            <a:r>
              <a:rPr lang="en-US"/>
              <a:t>Click to edit Master title style</a:t>
            </a:r>
          </a:p>
        </p:txBody>
      </p:sp>
      <p:sp>
        <p:nvSpPr>
          <p:cNvPr id="1048776"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p:txBody>
          <a:bodyPr/>
          <a:lstStyle/>
          <a:p>
            <a:fld id="{7384E698-6F41-449C-A4DA-634BEDB61369}" type="datetime5">
              <a:rPr lang="en-US" smtClean="0"/>
              <a:t>16-Sep-24</a:t>
            </a:fld>
            <a:endParaRPr lang="en-US"/>
          </a:p>
        </p:txBody>
      </p:sp>
      <p:sp>
        <p:nvSpPr>
          <p:cNvPr id="1048778" name="Footer Placeholder 4"/>
          <p:cNvSpPr>
            <a:spLocks noGrp="1"/>
          </p:cNvSpPr>
          <p:nvPr>
            <p:ph type="ftr" sz="quarter" idx="11"/>
          </p:nvPr>
        </p:nvSpPr>
        <p:spPr/>
        <p:txBody>
          <a:bodyPr/>
          <a:lstStyle/>
          <a:p>
            <a:r>
              <a:rPr lang="en-US"/>
              <a:t>18602102, 18602135</a:t>
            </a:r>
          </a:p>
        </p:txBody>
      </p:sp>
      <p:sp>
        <p:nvSpPr>
          <p:cNvPr id="1048779" name="Slide Number Placeholder 5"/>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64"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65"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6" name="Date Placeholder 3"/>
          <p:cNvSpPr>
            <a:spLocks noGrp="1"/>
          </p:cNvSpPr>
          <p:nvPr>
            <p:ph type="dt" sz="half" idx="10"/>
          </p:nvPr>
        </p:nvSpPr>
        <p:spPr/>
        <p:txBody>
          <a:bodyPr/>
          <a:lstStyle/>
          <a:p>
            <a:fld id="{A5FC1896-FBF2-47E2-98DD-38A197B7FCE1}" type="datetime5">
              <a:rPr lang="en-US" smtClean="0"/>
              <a:t>16-Sep-24</a:t>
            </a:fld>
            <a:endParaRPr lang="en-US"/>
          </a:p>
        </p:txBody>
      </p:sp>
      <p:sp>
        <p:nvSpPr>
          <p:cNvPr id="1048767" name="Footer Placeholder 4"/>
          <p:cNvSpPr>
            <a:spLocks noGrp="1"/>
          </p:cNvSpPr>
          <p:nvPr>
            <p:ph type="ftr" sz="quarter" idx="11"/>
          </p:nvPr>
        </p:nvSpPr>
        <p:spPr/>
        <p:txBody>
          <a:bodyPr/>
          <a:lstStyle/>
          <a:p>
            <a:r>
              <a:rPr lang="en-US"/>
              <a:t>18602102, 18602135</a:t>
            </a:r>
          </a:p>
        </p:txBody>
      </p:sp>
      <p:sp>
        <p:nvSpPr>
          <p:cNvPr id="1048768" name="Slide Number Placeholder 5"/>
          <p:cNvSpPr>
            <a:spLocks noGrp="1"/>
          </p:cNvSpPr>
          <p:nvPr>
            <p:ph type="sldNum" sz="quarter" idx="12"/>
          </p:nvPr>
        </p:nvSpPr>
        <p:spPr/>
        <p:txBody>
          <a:bodyPr/>
          <a:lstStyle/>
          <a:p>
            <a:fld id="{96B9CE5D-B6B3-477C-B60B-1D633FD3402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0274C-556F-43AE-957D-23FB0C360CC9}" type="datetime5">
              <a:rPr lang="en-US" smtClean="0"/>
              <a:t>16-Sep-24</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18602102, 18602135</a:t>
            </a:r>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B9CE5D-B6B3-477C-B60B-1D633FD3402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723900" y="2543921"/>
            <a:ext cx="7848600" cy="365125"/>
          </a:xfrm>
        </p:spPr>
        <p:txBody>
          <a:bodyPr>
            <a:normAutofit fontScale="90000"/>
          </a:bodyPr>
          <a:lstStyle/>
          <a:p>
            <a:pPr>
              <a:lnSpc>
                <a:spcPct val="150000"/>
              </a:lnSpc>
            </a:pPr>
            <a:r>
              <a:rPr lang="en-US" sz="2800" dirty="0"/>
              <a:t/>
            </a:r>
            <a:br>
              <a:rPr lang="en-US" sz="2800" dirty="0"/>
            </a:br>
            <a:r>
              <a:rPr lang="en-US" sz="2800" dirty="0"/>
              <a:t/>
            </a:r>
            <a:br>
              <a:rPr lang="en-US" sz="2800" dirty="0"/>
            </a:br>
            <a:r>
              <a:rPr lang="en-US" sz="2800" dirty="0">
                <a:cs typeface="Times New Roman" pitchFamily="18" charset="0"/>
              </a:rPr>
              <a:t>Department of Computer Science and Engineering</a:t>
            </a:r>
            <a:br>
              <a:rPr lang="en-US" sz="2800" dirty="0">
                <a:cs typeface="Times New Roman" pitchFamily="18" charset="0"/>
              </a:rPr>
            </a:br>
            <a:r>
              <a:rPr lang="en-US" sz="2400" dirty="0">
                <a:solidFill>
                  <a:schemeClr val="tx1"/>
                </a:solidFill>
                <a:cs typeface="Times New Roman" pitchFamily="18" charset="0"/>
              </a:rPr>
              <a:t>Final year project work</a:t>
            </a:r>
            <a:br>
              <a:rPr lang="en-US" sz="2400" dirty="0">
                <a:solidFill>
                  <a:schemeClr val="tx1"/>
                </a:solidFill>
                <a:cs typeface="Times New Roman" pitchFamily="18" charset="0"/>
              </a:rPr>
            </a:br>
            <a:endParaRPr lang="en-US" sz="2800" dirty="0">
              <a:cs typeface="Times New Roman" pitchFamily="18" charset="0"/>
            </a:endParaRPr>
          </a:p>
        </p:txBody>
      </p:sp>
      <p:sp>
        <p:nvSpPr>
          <p:cNvPr id="1048587" name="Subtitle 2"/>
          <p:cNvSpPr>
            <a:spLocks noGrp="1"/>
          </p:cNvSpPr>
          <p:nvPr>
            <p:ph type="subTitle" idx="1"/>
          </p:nvPr>
        </p:nvSpPr>
        <p:spPr>
          <a:xfrm>
            <a:off x="904875" y="3745210"/>
            <a:ext cx="7924800" cy="739180"/>
          </a:xfrm>
        </p:spPr>
        <p:txBody>
          <a:bodyPr>
            <a:normAutofit fontScale="96552"/>
          </a:bodyPr>
          <a:lstStyle/>
          <a:p>
            <a:pPr marR="937895">
              <a:lnSpc>
                <a:spcPct val="97000"/>
              </a:lnSpc>
              <a:spcBef>
                <a:spcPts val="190"/>
              </a:spcBef>
              <a:spcAft>
                <a:spcPts val="0"/>
              </a:spcAft>
            </a:pPr>
            <a:r>
              <a:rPr lang="en-US" sz="2100" b="1" dirty="0">
                <a:solidFill>
                  <a:schemeClr val="tx1"/>
                </a:solidFill>
                <a:latin typeface="+mj-lt"/>
                <a:cs typeface="Times New Roman" pitchFamily="18" charset="0"/>
              </a:rPr>
              <a:t>      </a:t>
            </a:r>
            <a:r>
              <a:rPr lang="en-US" sz="2100" b="1" dirty="0">
                <a:solidFill>
                  <a:schemeClr val="tx1"/>
                </a:solidFill>
                <a:effectLst/>
                <a:latin typeface="+mj-lt"/>
                <a:ea typeface="Times New Roman" panose="02020603050405020304" pitchFamily="18" charset="0"/>
              </a:rPr>
              <a:t>WINE CLASSIFICATION USING MACHINE LEARNING</a:t>
            </a:r>
            <a:endParaRPr lang="en-IN" sz="2100" b="1" dirty="0">
              <a:solidFill>
                <a:schemeClr val="tx1"/>
              </a:solidFill>
              <a:effectLst/>
              <a:latin typeface="+mj-lt"/>
              <a:ea typeface="Times New Roman" panose="02020603050405020304" pitchFamily="18" charset="0"/>
            </a:endParaRPr>
          </a:p>
          <a:p>
            <a:endParaRPr lang="en-US" dirty="0">
              <a:solidFill>
                <a:schemeClr val="tx1"/>
              </a:solidFill>
            </a:endParaRPr>
          </a:p>
        </p:txBody>
      </p:sp>
      <p:sp>
        <p:nvSpPr>
          <p:cNvPr id="1048590" name="Slide Number Placeholder 8"/>
          <p:cNvSpPr>
            <a:spLocks noGrp="1"/>
          </p:cNvSpPr>
          <p:nvPr>
            <p:ph type="sldNum" sz="quarter" idx="12"/>
          </p:nvPr>
        </p:nvSpPr>
        <p:spPr/>
        <p:txBody>
          <a:bodyPr/>
          <a:lstStyle/>
          <a:p>
            <a:fld id="{96B9CE5D-B6B3-477C-B60B-1D633FD34024}" type="slidenum">
              <a:rPr lang="en-US" smtClean="0"/>
              <a:pPr/>
              <a:t>1</a:t>
            </a:fld>
            <a:endParaRPr lang="en-US" dirty="0"/>
          </a:p>
        </p:txBody>
      </p:sp>
      <p:sp>
        <p:nvSpPr>
          <p:cNvPr id="1048592" name="TextBox 6"/>
          <p:cNvSpPr txBox="1"/>
          <p:nvPr/>
        </p:nvSpPr>
        <p:spPr>
          <a:xfrm>
            <a:off x="762000" y="4800600"/>
            <a:ext cx="3962400" cy="646331"/>
          </a:xfrm>
          <a:prstGeom prst="rect">
            <a:avLst/>
          </a:prstGeom>
          <a:noFill/>
        </p:spPr>
        <p:txBody>
          <a:bodyPr wrap="square" rtlCol="0">
            <a:spAutoFit/>
          </a:bodyPr>
          <a:lstStyle/>
          <a:p>
            <a:r>
              <a:rPr lang="en-US" b="1" dirty="0">
                <a:cs typeface="Times New Roman" pitchFamily="18" charset="0"/>
              </a:rPr>
              <a:t>Project Members : </a:t>
            </a:r>
          </a:p>
          <a:p>
            <a:r>
              <a:rPr lang="en-US" dirty="0">
                <a:cs typeface="Times New Roman" pitchFamily="18" charset="0"/>
              </a:rPr>
              <a:t>                </a:t>
            </a:r>
            <a:r>
              <a:rPr lang="en-IN" dirty="0" smtClean="0">
                <a:cs typeface="Times New Roman" pitchFamily="18" charset="0"/>
              </a:rPr>
              <a:t>       </a:t>
            </a:r>
            <a:endParaRPr lang="en-IN" dirty="0">
              <a:cs typeface="Times New Roman" pitchFamily="18" charset="0"/>
            </a:endParaRPr>
          </a:p>
        </p:txBody>
      </p:sp>
      <p:pic>
        <p:nvPicPr>
          <p:cNvPr id="2097152" name="Picture 11" descr="vel.jpeg"/>
          <p:cNvPicPr>
            <a:picLocks noChangeAspect="1"/>
          </p:cNvPicPr>
          <p:nvPr/>
        </p:nvPicPr>
        <p:blipFill>
          <a:blip r:embed="rId3" cstate="print"/>
          <a:stretch>
            <a:fillRect/>
          </a:stretch>
        </p:blipFill>
        <p:spPr>
          <a:xfrm>
            <a:off x="304800" y="228600"/>
            <a:ext cx="8524875" cy="2057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p:txBody>
          <a:bodyPr>
            <a:normAutofit/>
          </a:bodyPr>
          <a:lstStyle/>
          <a:p>
            <a:r>
              <a:rPr lang="en-US" sz="4000" dirty="0">
                <a:cs typeface="Times New Roman" pitchFamily="18" charset="0"/>
              </a:rPr>
              <a:t>LIST</a:t>
            </a:r>
            <a:r>
              <a:rPr lang="en-US" sz="4000" b="1" dirty="0">
                <a:cs typeface="Times New Roman" pitchFamily="18" charset="0"/>
              </a:rPr>
              <a:t> </a:t>
            </a:r>
            <a:r>
              <a:rPr lang="en-US" sz="4000" dirty="0">
                <a:cs typeface="Times New Roman" pitchFamily="18" charset="0"/>
              </a:rPr>
              <a:t>OF</a:t>
            </a:r>
            <a:r>
              <a:rPr lang="en-US" sz="4000" b="1" dirty="0">
                <a:cs typeface="Times New Roman" pitchFamily="18" charset="0"/>
              </a:rPr>
              <a:t> </a:t>
            </a:r>
            <a:r>
              <a:rPr lang="en-US" sz="4000" dirty="0">
                <a:cs typeface="Times New Roman" pitchFamily="18" charset="0"/>
              </a:rPr>
              <a:t>CONTENTS</a:t>
            </a:r>
          </a:p>
        </p:txBody>
      </p:sp>
      <p:sp>
        <p:nvSpPr>
          <p:cNvPr id="1048603" name="Content Placeholder 2"/>
          <p:cNvSpPr>
            <a:spLocks noGrp="1"/>
          </p:cNvSpPr>
          <p:nvPr>
            <p:ph idx="1"/>
          </p:nvPr>
        </p:nvSpPr>
        <p:spPr/>
        <p:txBody>
          <a:bodyPr>
            <a:normAutofit fontScale="76250" lnSpcReduction="20000"/>
          </a:bodyPr>
          <a:lstStyle/>
          <a:p>
            <a:r>
              <a:rPr lang="en-US" dirty="0" smtClean="0">
                <a:cs typeface="Times New Roman" pitchFamily="18" charset="0"/>
              </a:rPr>
              <a:t>Introduction</a:t>
            </a:r>
          </a:p>
          <a:p>
            <a:r>
              <a:rPr lang="en-US" dirty="0" smtClean="0">
                <a:cs typeface="Times New Roman" pitchFamily="18" charset="0"/>
              </a:rPr>
              <a:t>Objectives</a:t>
            </a:r>
          </a:p>
          <a:p>
            <a:r>
              <a:rPr lang="en-IN" dirty="0" smtClean="0">
                <a:cs typeface="Times New Roman" pitchFamily="18" charset="0"/>
              </a:rPr>
              <a:t>Scope of the Project</a:t>
            </a:r>
            <a:endParaRPr lang="en-US" dirty="0">
              <a:cs typeface="Times New Roman" pitchFamily="18" charset="0"/>
            </a:endParaRPr>
          </a:p>
          <a:p>
            <a:r>
              <a:rPr lang="en-US" dirty="0">
                <a:cs typeface="Times New Roman" pitchFamily="18" charset="0"/>
              </a:rPr>
              <a:t>Existing System with Limitations</a:t>
            </a:r>
          </a:p>
          <a:p>
            <a:r>
              <a:rPr lang="en-US" dirty="0">
                <a:cs typeface="Times New Roman" pitchFamily="18" charset="0"/>
              </a:rPr>
              <a:t>Proposed System with Advantages</a:t>
            </a:r>
          </a:p>
          <a:p>
            <a:r>
              <a:rPr lang="en-US" dirty="0">
                <a:cs typeface="Times New Roman" pitchFamily="18" charset="0"/>
              </a:rPr>
              <a:t>System Architecture</a:t>
            </a:r>
          </a:p>
          <a:p>
            <a:r>
              <a:rPr lang="en-US" dirty="0">
                <a:cs typeface="Times New Roman" pitchFamily="18" charset="0"/>
              </a:rPr>
              <a:t>Functional Diagram</a:t>
            </a:r>
          </a:p>
          <a:p>
            <a:r>
              <a:rPr lang="en-US" dirty="0">
                <a:cs typeface="Times New Roman" pitchFamily="18" charset="0"/>
              </a:rPr>
              <a:t>System </a:t>
            </a:r>
            <a:r>
              <a:rPr lang="en-US" dirty="0" smtClean="0">
                <a:cs typeface="Times New Roman" pitchFamily="18" charset="0"/>
              </a:rPr>
              <a:t>Requirements</a:t>
            </a:r>
            <a:endParaRPr lang="en-US" dirty="0">
              <a:cs typeface="Times New Roman" pitchFamily="18" charset="0"/>
            </a:endParaRPr>
          </a:p>
          <a:p>
            <a:r>
              <a:rPr lang="en-US" dirty="0">
                <a:cs typeface="Times New Roman" pitchFamily="18" charset="0"/>
              </a:rPr>
              <a:t>List of Modules</a:t>
            </a:r>
          </a:p>
          <a:p>
            <a:r>
              <a:rPr lang="en-US" dirty="0">
                <a:cs typeface="Times New Roman" pitchFamily="18" charset="0"/>
              </a:rPr>
              <a:t>Modules Description</a:t>
            </a:r>
          </a:p>
          <a:p>
            <a:r>
              <a:rPr lang="en-US" dirty="0">
                <a:cs typeface="Times New Roman" pitchFamily="18" charset="0"/>
              </a:rPr>
              <a:t>Conclusion</a:t>
            </a:r>
          </a:p>
          <a:p>
            <a:r>
              <a:rPr lang="en-US" dirty="0">
                <a:cs typeface="Times New Roman" pitchFamily="18" charset="0"/>
              </a:rPr>
              <a:t>References</a:t>
            </a:r>
          </a:p>
        </p:txBody>
      </p:sp>
      <p:sp>
        <p:nvSpPr>
          <p:cNvPr id="1048606" name="Slide Number Placeholder 3"/>
          <p:cNvSpPr>
            <a:spLocks noGrp="1"/>
          </p:cNvSpPr>
          <p:nvPr>
            <p:ph type="sldNum" sz="quarter" idx="12"/>
          </p:nvPr>
        </p:nvSpPr>
        <p:spPr/>
        <p:txBody>
          <a:bodyPr/>
          <a:lstStyle/>
          <a:p>
            <a:fld id="{96B9CE5D-B6B3-477C-B60B-1D633FD34024}"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p:txBody>
          <a:bodyPr>
            <a:normAutofit/>
          </a:bodyPr>
          <a:lstStyle/>
          <a:p>
            <a:r>
              <a:rPr lang="en-US" dirty="0">
                <a:cs typeface="Times New Roman" pitchFamily="18" charset="0"/>
              </a:rPr>
              <a:t>INTRODUCTION</a:t>
            </a:r>
          </a:p>
        </p:txBody>
      </p:sp>
      <p:sp>
        <p:nvSpPr>
          <p:cNvPr id="1048613" name="Content Placeholder 2"/>
          <p:cNvSpPr>
            <a:spLocks noGrp="1"/>
          </p:cNvSpPr>
          <p:nvPr>
            <p:ph idx="1"/>
          </p:nvPr>
        </p:nvSpPr>
        <p:spPr/>
        <p:txBody>
          <a:bodyPr>
            <a:noAutofit/>
          </a:bodyPr>
          <a:lstStyle/>
          <a:p>
            <a:pPr algn="just"/>
            <a:r>
              <a:rPr lang="en-US" sz="2000" dirty="0">
                <a:effectLst/>
                <a:latin typeface="Times New Roman" panose="02020603050405020304" pitchFamily="18" charset="0"/>
                <a:ea typeface="Times New Roman" panose="02020603050405020304" pitchFamily="18" charset="0"/>
              </a:rPr>
              <a:t>The main purpose of this study is to predict wine </a:t>
            </a:r>
            <a:r>
              <a:rPr lang="en-US" sz="2000" dirty="0" smtClean="0">
                <a:effectLst/>
                <a:latin typeface="Times New Roman" panose="02020603050405020304" pitchFamily="18" charset="0"/>
                <a:ea typeface="Times New Roman" panose="02020603050405020304" pitchFamily="18" charset="0"/>
              </a:rPr>
              <a:t>quality and type </a:t>
            </a:r>
            <a:r>
              <a:rPr lang="en-US" sz="2000" dirty="0">
                <a:effectLst/>
                <a:latin typeface="Times New Roman" panose="02020603050405020304" pitchFamily="18" charset="0"/>
                <a:ea typeface="Times New Roman" panose="02020603050405020304" pitchFamily="18" charset="0"/>
              </a:rPr>
              <a:t>based on physicochemical data. </a:t>
            </a:r>
          </a:p>
          <a:p>
            <a:pPr algn="just"/>
            <a:r>
              <a:rPr lang="en-US" sz="2000" dirty="0">
                <a:effectLst/>
                <a:latin typeface="Times New Roman" panose="02020603050405020304" pitchFamily="18" charset="0"/>
                <a:ea typeface="Times New Roman" panose="02020603050405020304" pitchFamily="18" charset="0"/>
              </a:rPr>
              <a:t>In this study, two large separate data sets which were taken from UC Irvine Machine Learning Repository were used. </a:t>
            </a:r>
          </a:p>
          <a:p>
            <a:pPr algn="just"/>
            <a:r>
              <a:rPr lang="en-US" sz="2000" dirty="0">
                <a:effectLst/>
                <a:latin typeface="Times New Roman" panose="02020603050405020304" pitchFamily="18" charset="0"/>
                <a:ea typeface="Times New Roman" panose="02020603050405020304" pitchFamily="18" charset="0"/>
              </a:rPr>
              <a:t>These data sets contain instances for wine with many features of physicochemical data such as alcohol, malic acid, ash, </a:t>
            </a:r>
            <a:r>
              <a:rPr lang="en-US" sz="2000" dirty="0" err="1">
                <a:effectLst/>
                <a:latin typeface="Times New Roman" panose="02020603050405020304" pitchFamily="18" charset="0"/>
                <a:ea typeface="Times New Roman" panose="02020603050405020304" pitchFamily="18" charset="0"/>
              </a:rPr>
              <a:t>alcalinity</a:t>
            </a:r>
            <a:r>
              <a:rPr lang="en-US" sz="2000" dirty="0">
                <a:effectLst/>
                <a:latin typeface="Times New Roman" panose="02020603050405020304" pitchFamily="18" charset="0"/>
                <a:ea typeface="Times New Roman" panose="02020603050405020304" pitchFamily="18" charset="0"/>
              </a:rPr>
              <a:t>, magnesium, phenols, </a:t>
            </a:r>
            <a:r>
              <a:rPr lang="en-US" sz="2000" dirty="0" err="1">
                <a:effectLst/>
                <a:latin typeface="Times New Roman" panose="02020603050405020304" pitchFamily="18" charset="0"/>
                <a:ea typeface="Times New Roman" panose="02020603050405020304" pitchFamily="18" charset="0"/>
              </a:rPr>
              <a:t>flavanoids</a:t>
            </a:r>
            <a:r>
              <a:rPr lang="en-US" sz="2000" dirty="0">
                <a:effectLst/>
                <a:latin typeface="Times New Roman" panose="02020603050405020304" pitchFamily="18" charset="0"/>
                <a:ea typeface="Times New Roman" panose="02020603050405020304" pitchFamily="18" charset="0"/>
              </a:rPr>
              <a:t>, proanthocyanins, proline and </a:t>
            </a:r>
            <a:r>
              <a:rPr lang="en-US" sz="2000" dirty="0" err="1">
                <a:effectLst/>
                <a:latin typeface="Times New Roman" panose="02020603050405020304" pitchFamily="18" charset="0"/>
                <a:ea typeface="Times New Roman" panose="02020603050405020304" pitchFamily="18" charset="0"/>
              </a:rPr>
              <a:t>pH.</a:t>
            </a:r>
            <a:r>
              <a:rPr lang="en-US" sz="2000" dirty="0">
                <a:effectLst/>
                <a:latin typeface="Times New Roman" panose="02020603050405020304" pitchFamily="18" charset="0"/>
                <a:ea typeface="Times New Roman" panose="02020603050405020304" pitchFamily="18" charset="0"/>
              </a:rPr>
              <a:t> </a:t>
            </a:r>
          </a:p>
          <a:p>
            <a:pPr algn="just"/>
            <a:r>
              <a:rPr lang="en-US" sz="2000" dirty="0">
                <a:effectLst/>
                <a:latin typeface="Times New Roman" panose="02020603050405020304" pitchFamily="18" charset="0"/>
                <a:ea typeface="Times New Roman" panose="02020603050405020304" pitchFamily="18" charset="0"/>
              </a:rPr>
              <a:t>Then, the following different data mining algorithms  and various classifier algorithm were used to classify the quality of both red wine and white </a:t>
            </a:r>
            <a:r>
              <a:rPr lang="en-US" sz="2000" dirty="0" smtClean="0">
                <a:effectLst/>
                <a:latin typeface="Times New Roman" panose="02020603050405020304" pitchFamily="18" charset="0"/>
                <a:ea typeface="Times New Roman" panose="02020603050405020304" pitchFamily="18" charset="0"/>
              </a:rPr>
              <a:t>wine</a:t>
            </a:r>
            <a:r>
              <a:rPr lang="en-US" sz="2000" dirty="0" smtClean="0">
                <a:latin typeface="Times New Roman" panose="02020603050405020304" pitchFamily="18"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r>
              <a:rPr lang="en-US" sz="2000" dirty="0">
                <a:effectLst/>
                <a:latin typeface="Times New Roman" panose="02020603050405020304" pitchFamily="18" charset="0"/>
                <a:ea typeface="Times New Roman" panose="02020603050405020304" pitchFamily="18" charset="0"/>
              </a:rPr>
              <a:t>In this study, it is also observed that the use of principal component analysis in the feature selection increases the success rate of classification in Algorithms. It can be used to future prediction as well.</a:t>
            </a:r>
            <a:endParaRPr lang="en-IN" sz="2000" dirty="0">
              <a:effectLst/>
              <a:latin typeface="Times New Roman" panose="02020603050405020304" pitchFamily="18" charset="0"/>
              <a:ea typeface="Times New Roman" panose="02020603050405020304" pitchFamily="18" charset="0"/>
            </a:endParaRPr>
          </a:p>
          <a:p>
            <a:pPr marL="0" indent="0" algn="just">
              <a:buNone/>
            </a:pPr>
            <a:endParaRPr lang="en-IN" sz="2000" dirty="0"/>
          </a:p>
        </p:txBody>
      </p:sp>
      <p:sp>
        <p:nvSpPr>
          <p:cNvPr id="1048616" name="Slide Number Placeholder 5"/>
          <p:cNvSpPr>
            <a:spLocks noGrp="1"/>
          </p:cNvSpPr>
          <p:nvPr>
            <p:ph type="sldNum" sz="quarter" idx="12"/>
          </p:nvPr>
        </p:nvSpPr>
        <p:spPr/>
        <p:txBody>
          <a:bodyPr/>
          <a:lstStyle/>
          <a:p>
            <a:fld id="{96B9CE5D-B6B3-477C-B60B-1D633FD34024}"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normAutofit/>
          </a:bodyPr>
          <a:lstStyle/>
          <a:p>
            <a:r>
              <a:rPr lang="en-US" dirty="0">
                <a:cs typeface="Times New Roman" pitchFamily="18" charset="0"/>
              </a:rPr>
              <a:t>OBJECTIVES</a:t>
            </a:r>
          </a:p>
        </p:txBody>
      </p:sp>
      <p:sp>
        <p:nvSpPr>
          <p:cNvPr id="1048608" name="Content Placeholder 2"/>
          <p:cNvSpPr>
            <a:spLocks noGrp="1"/>
          </p:cNvSpPr>
          <p:nvPr>
            <p:ph idx="1"/>
          </p:nvPr>
        </p:nvSpPr>
        <p:spPr/>
        <p:txBody>
          <a:bodyPr>
            <a:normAutofit fontScale="85000" lnSpcReduction="10000"/>
          </a:bodyPr>
          <a:lstStyle/>
          <a:p>
            <a:pPr marL="0" indent="0" algn="just">
              <a:buNone/>
            </a:pPr>
            <a:r>
              <a:rPr lang="en-US" sz="2800" dirty="0"/>
              <a:t> </a:t>
            </a:r>
            <a:r>
              <a:rPr lang="en-US" sz="1800" dirty="0">
                <a:solidFill>
                  <a:srgbClr val="202020"/>
                </a:solidFill>
                <a:effectLst/>
                <a:latin typeface="Times New Roman" panose="02020603050405020304" pitchFamily="18" charset="0"/>
                <a:ea typeface="Times New Roman" panose="02020603050405020304" pitchFamily="18" charset="0"/>
              </a:rPr>
              <a:t> </a:t>
            </a:r>
            <a:r>
              <a:rPr lang="en-US" sz="2400" dirty="0">
                <a:effectLst/>
                <a:ea typeface="SimSun" panose="02010600030101010101" pitchFamily="2" charset="-122"/>
              </a:rPr>
              <a:t>In this work following tasks are carried out for efficient classification :</a:t>
            </a:r>
            <a:r>
              <a:rPr lang="en-US" sz="2400" dirty="0">
                <a:solidFill>
                  <a:srgbClr val="292929"/>
                </a:solidFill>
                <a:effectLst/>
                <a:ea typeface="Times New Roman" panose="02020603050405020304" pitchFamily="18" charset="0"/>
              </a:rPr>
              <a:t> </a:t>
            </a:r>
            <a:endParaRPr lang="en-IN" sz="2400" dirty="0">
              <a:effectLst/>
              <a:ea typeface="Times New Roman" panose="02020603050405020304" pitchFamily="18" charset="0"/>
            </a:endParaRPr>
          </a:p>
          <a:p>
            <a:pPr marL="342900" lvl="0" indent="-342900" algn="just">
              <a:lnSpc>
                <a:spcPct val="115000"/>
              </a:lnSpc>
              <a:buFont typeface="Symbol" panose="05050102010706020507" pitchFamily="18" charset="2"/>
              <a:buChar char=""/>
            </a:pPr>
            <a:r>
              <a:rPr lang="en-US" sz="2400" dirty="0">
                <a:solidFill>
                  <a:srgbClr val="292929"/>
                </a:solidFill>
                <a:effectLst/>
                <a:ea typeface="Times New Roman" panose="02020603050405020304" pitchFamily="18" charset="0"/>
              </a:rPr>
              <a:t>To experiment with different classification methods to see which yields the highest accuracy of </a:t>
            </a:r>
            <a:r>
              <a:rPr lang="en-US" sz="2400" dirty="0" smtClean="0">
                <a:solidFill>
                  <a:srgbClr val="292929"/>
                </a:solidFill>
                <a:effectLst/>
                <a:ea typeface="Times New Roman" panose="02020603050405020304" pitchFamily="18" charset="0"/>
              </a:rPr>
              <a:t>wines type and quality</a:t>
            </a:r>
            <a:endParaRPr lang="en-IN" sz="2400" dirty="0">
              <a:effectLst/>
              <a:ea typeface="Times New Roman" panose="02020603050405020304" pitchFamily="18" charset="0"/>
            </a:endParaRPr>
          </a:p>
          <a:p>
            <a:pPr marL="342900" lvl="0" indent="-342900" algn="just">
              <a:lnSpc>
                <a:spcPct val="115000"/>
              </a:lnSpc>
              <a:buFont typeface="Symbol" panose="05050102010706020507" pitchFamily="18" charset="2"/>
              <a:buChar char=""/>
            </a:pPr>
            <a:r>
              <a:rPr lang="en-US" sz="2400" dirty="0">
                <a:solidFill>
                  <a:srgbClr val="292929"/>
                </a:solidFill>
                <a:effectLst/>
                <a:ea typeface="Times New Roman" panose="02020603050405020304" pitchFamily="18" charset="0"/>
              </a:rPr>
              <a:t> To determine which features are the most indicative of a good quality wine</a:t>
            </a:r>
            <a:endParaRPr lang="en-IN" sz="2400" dirty="0">
              <a:effectLst/>
              <a:ea typeface="Times New Roman" panose="02020603050405020304" pitchFamily="18" charset="0"/>
            </a:endParaRPr>
          </a:p>
          <a:p>
            <a:pPr marL="342900" lvl="0" indent="-342900" algn="just">
              <a:lnSpc>
                <a:spcPct val="115000"/>
              </a:lnSpc>
              <a:buFont typeface="Symbol" panose="05050102010706020507" pitchFamily="18" charset="2"/>
              <a:buChar char=""/>
            </a:pPr>
            <a:r>
              <a:rPr lang="en-US" sz="2400" dirty="0">
                <a:effectLst/>
                <a:ea typeface="Times New Roman" panose="02020603050405020304" pitchFamily="18" charset="0"/>
              </a:rPr>
              <a:t>Finally, Wine Classification is viewed through Graphical representation of the </a:t>
            </a:r>
            <a:r>
              <a:rPr lang="en-US" sz="2400" dirty="0" smtClean="0">
                <a:effectLst/>
                <a:ea typeface="Times New Roman" panose="02020603050405020304" pitchFamily="18" charset="0"/>
              </a:rPr>
              <a:t>qualities and type </a:t>
            </a:r>
            <a:r>
              <a:rPr lang="en-US" sz="2400" dirty="0">
                <a:effectLst/>
                <a:ea typeface="Times New Roman" panose="02020603050405020304" pitchFamily="18" charset="0"/>
              </a:rPr>
              <a:t>in form of Bar Graph and also in </a:t>
            </a:r>
            <a:r>
              <a:rPr lang="en-US" sz="2400" dirty="0" smtClean="0">
                <a:ea typeface="Times New Roman" panose="02020603050405020304" pitchFamily="18" charset="0"/>
              </a:rPr>
              <a:t>exploratory data analysis form</a:t>
            </a:r>
            <a:r>
              <a:rPr lang="en-US" sz="2400" dirty="0" smtClean="0">
                <a:effectLst/>
                <a:ea typeface="Times New Roman" panose="02020603050405020304" pitchFamily="18" charset="0"/>
              </a:rPr>
              <a:t>.</a:t>
            </a:r>
            <a:endParaRPr lang="en-IN" sz="2400" dirty="0">
              <a:effectLst/>
              <a:ea typeface="Times New Roman" panose="02020603050405020304" pitchFamily="18" charset="0"/>
            </a:endParaRPr>
          </a:p>
          <a:p>
            <a:pPr marL="0" indent="0" algn="just">
              <a:buNone/>
              <a:tabLst>
                <a:tab pos="1060450" algn="l"/>
              </a:tabLst>
            </a:pPr>
            <a:r>
              <a:rPr lang="en-US" sz="2400" dirty="0">
                <a:effectLst/>
                <a:ea typeface="Times New Roman" panose="02020603050405020304" pitchFamily="18" charset="0"/>
              </a:rPr>
              <a:t>	      </a:t>
            </a:r>
            <a:endParaRPr lang="en-US" sz="2400" dirty="0"/>
          </a:p>
        </p:txBody>
      </p:sp>
      <p:sp>
        <p:nvSpPr>
          <p:cNvPr id="1048611" name="Slide Number Placeholder 3"/>
          <p:cNvSpPr>
            <a:spLocks noGrp="1"/>
          </p:cNvSpPr>
          <p:nvPr>
            <p:ph type="sldNum" sz="quarter" idx="12"/>
          </p:nvPr>
        </p:nvSpPr>
        <p:spPr/>
        <p:txBody>
          <a:bodyPr/>
          <a:lstStyle/>
          <a:p>
            <a:fld id="{96B9CE5D-B6B3-477C-B60B-1D633FD34024}"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fontScale="90000"/>
          </a:bodyPr>
          <a:lstStyle/>
          <a:p>
            <a:r>
              <a:rPr lang="en-IN" dirty="0" smtClean="0"/>
              <a:t>SCOPE OF THE PROJECT</a:t>
            </a:r>
            <a:endParaRPr lang="en-US" dirty="0"/>
          </a:p>
        </p:txBody>
      </p:sp>
      <p:sp>
        <p:nvSpPr>
          <p:cNvPr id="3" name="Content Placeholder 2"/>
          <p:cNvSpPr>
            <a:spLocks noGrp="1"/>
          </p:cNvSpPr>
          <p:nvPr>
            <p:ph idx="1"/>
          </p:nvPr>
        </p:nvSpPr>
        <p:spPr>
          <a:xfrm>
            <a:off x="457200" y="1143000"/>
            <a:ext cx="8229600" cy="4983163"/>
          </a:xfrm>
        </p:spPr>
        <p:txBody>
          <a:bodyPr>
            <a:normAutofit fontScale="47500" lnSpcReduction="20000"/>
          </a:bodyPr>
          <a:lstStyle/>
          <a:p>
            <a:pPr algn="just"/>
            <a:r>
              <a:rPr lang="en-GB" dirty="0" smtClean="0"/>
              <a:t>Wine is an alcoholic beverage made from fermented grapes. It is a seemingly simple beverage that becomes more complex the more you study it. The good thing is, it doesn’t matter how much you know, nearly everyone can appreciate wine.</a:t>
            </a:r>
          </a:p>
          <a:p>
            <a:pPr algn="just"/>
            <a:r>
              <a:rPr lang="en-GB" dirty="0" smtClean="0"/>
              <a:t>It will definitely be interesting to analyze the physicochemical</a:t>
            </a:r>
            <a:r>
              <a:rPr lang="en-GB" b="1" dirty="0" smtClean="0"/>
              <a:t> </a:t>
            </a:r>
            <a:r>
              <a:rPr lang="en-GB" dirty="0" smtClean="0"/>
              <a:t>attributes of wine and understand their relationships and significance with wine quality and types classifications.</a:t>
            </a:r>
          </a:p>
          <a:p>
            <a:pPr algn="just"/>
            <a:r>
              <a:rPr lang="en-GB" dirty="0" smtClean="0"/>
              <a:t>      We will follow standard machine learning and data mining workflow to try to predict the quality of a wine  and its type from the physicochemical attributes</a:t>
            </a:r>
          </a:p>
          <a:p>
            <a:pPr algn="just"/>
            <a:r>
              <a:rPr lang="en-GB" dirty="0" smtClean="0"/>
              <a:t>Such insight could be useful to support the oenologist</a:t>
            </a:r>
            <a:r>
              <a:rPr lang="en-GB" b="1" dirty="0" smtClean="0"/>
              <a:t>** </a:t>
            </a:r>
            <a:r>
              <a:rPr lang="en-GB" dirty="0" smtClean="0"/>
              <a:t>wine tasting evaluations and help winemakers to look for wines of better qualities and improve wine production. Wine stores and large distributors could qualify new wines, even before acquiring them. That way they could better evaluate their purchase cost and their opportunity to sell. </a:t>
            </a:r>
            <a:br>
              <a:rPr lang="en-GB" dirty="0" smtClean="0"/>
            </a:br>
            <a:endParaRPr lang="en-US" dirty="0"/>
          </a:p>
        </p:txBody>
      </p:sp>
      <p:sp>
        <p:nvSpPr>
          <p:cNvPr id="6" name="Slide Number Placeholder 5"/>
          <p:cNvSpPr>
            <a:spLocks noGrp="1"/>
          </p:cNvSpPr>
          <p:nvPr>
            <p:ph type="sldNum" sz="quarter" idx="12"/>
          </p:nvPr>
        </p:nvSpPr>
        <p:spPr/>
        <p:txBody>
          <a:bodyPr/>
          <a:lstStyle/>
          <a:p>
            <a:fld id="{96B9CE5D-B6B3-477C-B60B-1D633FD34024}"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Title 1"/>
          <p:cNvSpPr>
            <a:spLocks noGrp="1"/>
          </p:cNvSpPr>
          <p:nvPr>
            <p:ph type="title"/>
          </p:nvPr>
        </p:nvSpPr>
        <p:spPr/>
        <p:txBody>
          <a:bodyPr>
            <a:noAutofit/>
          </a:bodyPr>
          <a:lstStyle/>
          <a:p>
            <a:r>
              <a:rPr lang="en-US" sz="4000" dirty="0">
                <a:cs typeface="Times New Roman" pitchFamily="18" charset="0"/>
              </a:rPr>
              <a:t>EXISTING SYSTEM WITH LIMITATIONS</a:t>
            </a:r>
          </a:p>
        </p:txBody>
      </p:sp>
      <p:sp>
        <p:nvSpPr>
          <p:cNvPr id="1048631" name="Content Placeholder 2"/>
          <p:cNvSpPr>
            <a:spLocks noGrp="1"/>
          </p:cNvSpPr>
          <p:nvPr>
            <p:ph idx="1"/>
          </p:nvPr>
        </p:nvSpPr>
        <p:spPr/>
        <p:txBody>
          <a:bodyPr>
            <a:normAutofit fontScale="88333" lnSpcReduction="10000"/>
          </a:bodyPr>
          <a:lstStyle/>
          <a:p>
            <a:pPr algn="just"/>
            <a:r>
              <a:rPr lang="en-US" sz="2200" dirty="0">
                <a:effectLst/>
                <a:latin typeface="Times New Roman" panose="02020603050405020304" pitchFamily="18" charset="0"/>
                <a:ea typeface="Times New Roman" panose="02020603050405020304" pitchFamily="18" charset="0"/>
              </a:rPr>
              <a:t>Existing system works only on the dataset which is constrained to a particular topic.</a:t>
            </a:r>
          </a:p>
          <a:p>
            <a:pPr algn="just"/>
            <a:r>
              <a:rPr lang="en-US" sz="2200" dirty="0">
                <a:effectLst/>
                <a:latin typeface="Times New Roman" panose="02020603050405020304" pitchFamily="18" charset="0"/>
                <a:ea typeface="Times New Roman" panose="02020603050405020304" pitchFamily="18" charset="0"/>
              </a:rPr>
              <a:t> The existing systems also do not determine the measure of impact the results determined can have on the particular field taken into consideration and it does not allow all data to analyze it has constrained scope. </a:t>
            </a:r>
          </a:p>
          <a:p>
            <a:pPr algn="just"/>
            <a:r>
              <a:rPr lang="en-US" sz="2200" dirty="0">
                <a:effectLst/>
                <a:latin typeface="Times New Roman" panose="02020603050405020304" pitchFamily="18" charset="0"/>
                <a:ea typeface="Times New Roman" panose="02020603050405020304" pitchFamily="18" charset="0"/>
              </a:rPr>
              <a:t>In simple words, it works on static data rather than dynamic data. It takes a dataset on a particular topic into consideration. </a:t>
            </a:r>
          </a:p>
          <a:p>
            <a:pPr algn="just"/>
            <a:r>
              <a:rPr lang="en-US" sz="2200" dirty="0">
                <a:effectLst/>
                <a:latin typeface="Times New Roman" panose="02020603050405020304" pitchFamily="18" charset="0"/>
                <a:ea typeface="Times New Roman" panose="02020603050405020304" pitchFamily="18" charset="0"/>
              </a:rPr>
              <a:t>It does not provide accurate feature selection and therefore cannot be used in determining stocks </a:t>
            </a:r>
            <a:r>
              <a:rPr lang="en-US" sz="2200" dirty="0">
                <a:latin typeface="Times New Roman" panose="02020603050405020304" pitchFamily="18" charset="0"/>
                <a:ea typeface="Times New Roman" panose="02020603050405020304" pitchFamily="18" charset="0"/>
              </a:rPr>
              <a:t>of </a:t>
            </a:r>
            <a:r>
              <a:rPr lang="en-US" sz="2200" dirty="0">
                <a:effectLst/>
                <a:latin typeface="Times New Roman" panose="02020603050405020304" pitchFamily="18" charset="0"/>
                <a:ea typeface="Times New Roman" panose="02020603050405020304" pitchFamily="18" charset="0"/>
              </a:rPr>
              <a:t>wine data.</a:t>
            </a:r>
          </a:p>
          <a:p>
            <a:pPr algn="just"/>
            <a:r>
              <a:rPr lang="en-US" sz="2200" dirty="0">
                <a:effectLst/>
                <a:latin typeface="Times New Roman" panose="02020603050405020304" pitchFamily="18" charset="0"/>
                <a:ea typeface="Times New Roman" panose="02020603050405020304" pitchFamily="18" charset="0"/>
              </a:rPr>
              <a:t> Algorithm fails to handle large datasets and as a result cannot able to generate classification.</a:t>
            </a:r>
            <a:endParaRPr lang="en-US" sz="2200" dirty="0"/>
          </a:p>
        </p:txBody>
      </p:sp>
      <p:sp>
        <p:nvSpPr>
          <p:cNvPr id="1048634" name="Slide Number Placeholder 5"/>
          <p:cNvSpPr>
            <a:spLocks noGrp="1"/>
          </p:cNvSpPr>
          <p:nvPr>
            <p:ph type="sldNum" sz="quarter" idx="12"/>
          </p:nvPr>
        </p:nvSpPr>
        <p:spPr/>
        <p:txBody>
          <a:bodyPr/>
          <a:lstStyle/>
          <a:p>
            <a:fld id="{96B9CE5D-B6B3-477C-B60B-1D633FD34024}"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Title 1"/>
          <p:cNvSpPr>
            <a:spLocks noGrp="1"/>
          </p:cNvSpPr>
          <p:nvPr>
            <p:ph type="title"/>
          </p:nvPr>
        </p:nvSpPr>
        <p:spPr/>
        <p:txBody>
          <a:bodyPr>
            <a:noAutofit/>
          </a:bodyPr>
          <a:lstStyle/>
          <a:p>
            <a:r>
              <a:rPr lang="en-US" sz="3600" dirty="0">
                <a:cs typeface="Times New Roman" pitchFamily="18" charset="0"/>
              </a:rPr>
              <a:t>PROPOSED SYSTEM WITH ADVANTAGES</a:t>
            </a:r>
          </a:p>
        </p:txBody>
      </p:sp>
      <p:sp>
        <p:nvSpPr>
          <p:cNvPr id="1048639" name="Content Placeholder 2"/>
          <p:cNvSpPr>
            <a:spLocks noGrp="1"/>
          </p:cNvSpPr>
          <p:nvPr>
            <p:ph idx="1"/>
          </p:nvPr>
        </p:nvSpPr>
        <p:spPr/>
        <p:txBody>
          <a:bodyPr>
            <a:noAutofit/>
          </a:bodyPr>
          <a:lstStyle/>
          <a:p>
            <a:pPr algn="just"/>
            <a:r>
              <a:rPr lang="en-US" sz="2400" dirty="0">
                <a:effectLst/>
                <a:latin typeface="Times New Roman" panose="02020603050405020304" pitchFamily="18" charset="0"/>
                <a:ea typeface="Times New Roman" panose="02020603050405020304" pitchFamily="18" charset="0"/>
              </a:rPr>
              <a:t>In the proposed system,</a:t>
            </a:r>
            <a:r>
              <a:rPr lang="en-US" sz="2400" dirty="0">
                <a:solidFill>
                  <a:srgbClr val="292929"/>
                </a:solidFill>
                <a:effectLst/>
                <a:latin typeface="Times New Roman" panose="02020603050405020304" pitchFamily="18" charset="0"/>
                <a:ea typeface="Times New Roman" panose="02020603050405020304" pitchFamily="18" charset="0"/>
              </a:rPr>
              <a:t> I wanted to compare the effectiveness of different classification </a:t>
            </a:r>
            <a:r>
              <a:rPr lang="en-US" sz="2400" dirty="0" smtClean="0">
                <a:solidFill>
                  <a:srgbClr val="292929"/>
                </a:solidFill>
                <a:effectLst/>
                <a:latin typeface="Times New Roman" panose="02020603050405020304" pitchFamily="18" charset="0"/>
                <a:ea typeface="Times New Roman" panose="02020603050405020304" pitchFamily="18" charset="0"/>
              </a:rPr>
              <a:t>techniques</a:t>
            </a:r>
            <a:r>
              <a:rPr lang="en-US" sz="2400" dirty="0" smtClean="0">
                <a:solidFill>
                  <a:srgbClr val="292929"/>
                </a:solidFill>
                <a:latin typeface="Times New Roman" panose="02020603050405020304" pitchFamily="18" charset="0"/>
                <a:ea typeface="Times New Roman" panose="02020603050405020304" pitchFamily="18" charset="0"/>
              </a:rPr>
              <a:t>.</a:t>
            </a:r>
            <a:endParaRPr lang="en-IN" sz="2400" dirty="0">
              <a:effectLst/>
              <a:latin typeface="Times New Roman" panose="02020603050405020304" pitchFamily="18" charset="0"/>
              <a:ea typeface="Times New Roman" panose="02020603050405020304" pitchFamily="18" charset="0"/>
            </a:endParaRPr>
          </a:p>
          <a:p>
            <a:pPr algn="just"/>
            <a:r>
              <a:rPr lang="en-US" sz="2400" dirty="0">
                <a:solidFill>
                  <a:srgbClr val="292929"/>
                </a:solidFill>
                <a:effectLst/>
                <a:latin typeface="Times New Roman" panose="02020603050405020304" pitchFamily="18" charset="0"/>
                <a:ea typeface="Times New Roman" panose="02020603050405020304" pitchFamily="18" charset="0"/>
              </a:rPr>
              <a:t>For this problem, I defined a bottle of wine as </a:t>
            </a:r>
            <a:r>
              <a:rPr lang="en-US" sz="2400" dirty="0" smtClean="0">
                <a:solidFill>
                  <a:srgbClr val="292929"/>
                </a:solidFill>
                <a:effectLst/>
                <a:latin typeface="Times New Roman" panose="02020603050405020304" pitchFamily="18" charset="0"/>
                <a:ea typeface="Times New Roman" panose="02020603050405020304" pitchFamily="18" charset="0"/>
              </a:rPr>
              <a:t>‘</a:t>
            </a:r>
            <a:r>
              <a:rPr lang="en-US" sz="2400" dirty="0" smtClean="0">
                <a:solidFill>
                  <a:srgbClr val="292929"/>
                </a:solidFill>
                <a:latin typeface="Times New Roman" panose="02020603050405020304" pitchFamily="18" charset="0"/>
                <a:ea typeface="Times New Roman" panose="02020603050405020304" pitchFamily="18" charset="0"/>
              </a:rPr>
              <a:t>high</a:t>
            </a:r>
            <a:r>
              <a:rPr lang="en-US" sz="2400" dirty="0" smtClean="0">
                <a:solidFill>
                  <a:srgbClr val="292929"/>
                </a:solidFill>
                <a:effectLst/>
                <a:latin typeface="Times New Roman" panose="02020603050405020304" pitchFamily="18" charset="0"/>
                <a:ea typeface="Times New Roman" panose="02020603050405020304" pitchFamily="18" charset="0"/>
              </a:rPr>
              <a:t>’ </a:t>
            </a:r>
            <a:r>
              <a:rPr lang="en-US" sz="2400" dirty="0">
                <a:solidFill>
                  <a:srgbClr val="292929"/>
                </a:solidFill>
                <a:effectLst/>
                <a:latin typeface="Times New Roman" panose="02020603050405020304" pitchFamily="18" charset="0"/>
                <a:ea typeface="Times New Roman" panose="02020603050405020304" pitchFamily="18" charset="0"/>
              </a:rPr>
              <a:t>if it had a quality score of </a:t>
            </a:r>
            <a:r>
              <a:rPr lang="en-US" sz="2400" dirty="0" smtClean="0">
                <a:solidFill>
                  <a:srgbClr val="292929"/>
                </a:solidFill>
                <a:effectLst/>
                <a:latin typeface="Times New Roman" panose="02020603050405020304" pitchFamily="18" charset="0"/>
                <a:ea typeface="Times New Roman" panose="02020603050405020304" pitchFamily="18" charset="0"/>
              </a:rPr>
              <a:t>8 </a:t>
            </a:r>
            <a:r>
              <a:rPr lang="en-US" sz="2400" dirty="0">
                <a:solidFill>
                  <a:srgbClr val="292929"/>
                </a:solidFill>
                <a:effectLst/>
                <a:latin typeface="Times New Roman" panose="02020603050405020304" pitchFamily="18" charset="0"/>
                <a:ea typeface="Times New Roman" panose="02020603050405020304" pitchFamily="18" charset="0"/>
              </a:rPr>
              <a:t>or </a:t>
            </a:r>
            <a:r>
              <a:rPr lang="en-US" sz="2400" dirty="0" smtClean="0">
                <a:solidFill>
                  <a:srgbClr val="292929"/>
                </a:solidFill>
                <a:effectLst/>
                <a:latin typeface="Times New Roman" panose="02020603050405020304" pitchFamily="18" charset="0"/>
                <a:ea typeface="Times New Roman" panose="02020603050405020304" pitchFamily="18" charset="0"/>
              </a:rPr>
              <a:t>higher, if </a:t>
            </a:r>
            <a:r>
              <a:rPr lang="en-US" sz="2400" dirty="0">
                <a:solidFill>
                  <a:srgbClr val="292929"/>
                </a:solidFill>
                <a:effectLst/>
                <a:latin typeface="Times New Roman" panose="02020603050405020304" pitchFamily="18" charset="0"/>
                <a:ea typeface="Times New Roman" panose="02020603050405020304" pitchFamily="18" charset="0"/>
              </a:rPr>
              <a:t>it had a score of less than </a:t>
            </a:r>
            <a:r>
              <a:rPr lang="en-US" sz="2400" dirty="0" smtClean="0">
                <a:solidFill>
                  <a:srgbClr val="292929"/>
                </a:solidFill>
                <a:effectLst/>
                <a:latin typeface="Times New Roman" panose="02020603050405020304" pitchFamily="18" charset="0"/>
                <a:ea typeface="Times New Roman" panose="02020603050405020304" pitchFamily="18" charset="0"/>
              </a:rPr>
              <a:t>5, </a:t>
            </a:r>
            <a:r>
              <a:rPr lang="en-US" sz="2400" dirty="0">
                <a:solidFill>
                  <a:srgbClr val="292929"/>
                </a:solidFill>
                <a:effectLst/>
                <a:latin typeface="Times New Roman" panose="02020603050405020304" pitchFamily="18" charset="0"/>
                <a:ea typeface="Times New Roman" panose="02020603050405020304" pitchFamily="18" charset="0"/>
              </a:rPr>
              <a:t>it was deemed </a:t>
            </a:r>
            <a:r>
              <a:rPr lang="en-US" sz="2400" dirty="0" smtClean="0">
                <a:solidFill>
                  <a:srgbClr val="292929"/>
                </a:solidFill>
                <a:effectLst/>
                <a:latin typeface="Times New Roman" panose="02020603050405020304" pitchFamily="18" charset="0"/>
                <a:ea typeface="Times New Roman" panose="02020603050405020304" pitchFamily="18" charset="0"/>
              </a:rPr>
              <a:t>‘</a:t>
            </a:r>
            <a:r>
              <a:rPr lang="en-US" sz="2400" dirty="0" smtClean="0">
                <a:solidFill>
                  <a:srgbClr val="292929"/>
                </a:solidFill>
                <a:latin typeface="Times New Roman" panose="02020603050405020304" pitchFamily="18" charset="0"/>
                <a:ea typeface="Times New Roman" panose="02020603050405020304" pitchFamily="18" charset="0"/>
              </a:rPr>
              <a:t>low</a:t>
            </a:r>
            <a:r>
              <a:rPr lang="en-US" sz="2400" dirty="0" smtClean="0">
                <a:solidFill>
                  <a:srgbClr val="292929"/>
                </a:solidFill>
                <a:effectLst/>
                <a:latin typeface="Times New Roman" panose="02020603050405020304" pitchFamily="18" charset="0"/>
                <a:ea typeface="Times New Roman" panose="02020603050405020304" pitchFamily="18" charset="0"/>
              </a:rPr>
              <a:t> </a:t>
            </a:r>
            <a:r>
              <a:rPr lang="en-US" sz="2400" dirty="0">
                <a:solidFill>
                  <a:srgbClr val="292929"/>
                </a:solidFill>
                <a:effectLst/>
                <a:latin typeface="Times New Roman" panose="02020603050405020304" pitchFamily="18" charset="0"/>
                <a:ea typeface="Times New Roman" panose="02020603050405020304" pitchFamily="18" charset="0"/>
              </a:rPr>
              <a:t>quality</a:t>
            </a:r>
            <a:r>
              <a:rPr lang="en-US" sz="2400" dirty="0" smtClean="0">
                <a:solidFill>
                  <a:srgbClr val="292929"/>
                </a:solidFill>
                <a:effectLst/>
                <a:latin typeface="Times New Roman" panose="02020603050405020304" pitchFamily="18" charset="0"/>
                <a:ea typeface="Times New Roman" panose="02020603050405020304" pitchFamily="18" charset="0"/>
              </a:rPr>
              <a:t>’ and 6 to 7 score as “medium”.</a:t>
            </a:r>
            <a:endParaRPr lang="en-IN" sz="2400" dirty="0">
              <a:effectLst/>
              <a:latin typeface="Times New Roman" panose="02020603050405020304" pitchFamily="18" charset="0"/>
              <a:ea typeface="Times New Roman" panose="02020603050405020304" pitchFamily="18" charset="0"/>
            </a:endParaRPr>
          </a:p>
          <a:p>
            <a:pPr algn="just"/>
            <a:r>
              <a:rPr lang="en-US" sz="2400" dirty="0">
                <a:solidFill>
                  <a:srgbClr val="292929"/>
                </a:solidFill>
                <a:effectLst/>
                <a:latin typeface="Times New Roman" panose="02020603050405020304" pitchFamily="18" charset="0"/>
                <a:ea typeface="Times New Roman" panose="02020603050405020304" pitchFamily="18" charset="0"/>
              </a:rPr>
              <a:t>Once I converted the output variable to a binary output, I separated my feature variables and the target variable into separate data frames. </a:t>
            </a:r>
            <a:endParaRPr lang="en-US" sz="2400" dirty="0">
              <a:solidFill>
                <a:srgbClr val="292929"/>
              </a:solidFill>
              <a:latin typeface="Times New Roman" panose="02020603050405020304" pitchFamily="18" charset="0"/>
              <a:ea typeface="Times New Roman" panose="02020603050405020304" pitchFamily="18" charset="0"/>
            </a:endParaRPr>
          </a:p>
          <a:p>
            <a:pPr algn="just"/>
            <a:r>
              <a:rPr lang="en-US" sz="2400" dirty="0">
                <a:solidFill>
                  <a:srgbClr val="292929"/>
                </a:solidFill>
                <a:effectLst/>
                <a:latin typeface="Times New Roman" panose="02020603050405020304" pitchFamily="18" charset="0"/>
                <a:ea typeface="Times New Roman" panose="02020603050405020304" pitchFamily="18" charset="0"/>
              </a:rPr>
              <a:t> classification methods were used to evaluated the accuracy of each model in predicting classes of wine. The highest accuracies followed </a:t>
            </a:r>
            <a:r>
              <a:rPr lang="en-US" sz="2400" dirty="0" smtClean="0">
                <a:solidFill>
                  <a:srgbClr val="292929"/>
                </a:solidFill>
                <a:effectLst/>
                <a:latin typeface="Times New Roman" panose="02020603050405020304" pitchFamily="18" charset="0"/>
                <a:ea typeface="Times New Roman" panose="02020603050405020304" pitchFamily="18" charset="0"/>
              </a:rPr>
              <a:t>by </a:t>
            </a:r>
            <a:r>
              <a:rPr lang="en-US" sz="2400" dirty="0">
                <a:solidFill>
                  <a:srgbClr val="292929"/>
                </a:solidFill>
                <a:effectLst/>
                <a:latin typeface="Times New Roman" panose="02020603050405020304" pitchFamily="18" charset="0"/>
                <a:ea typeface="Times New Roman" panose="02020603050405020304" pitchFamily="18" charset="0"/>
              </a:rPr>
              <a:t>SVM, Random Forest and  logistic regression.</a:t>
            </a:r>
            <a:endParaRPr lang="en-IN" sz="2400" dirty="0">
              <a:effectLst/>
              <a:latin typeface="Times New Roman" panose="02020603050405020304" pitchFamily="18" charset="0"/>
              <a:ea typeface="Times New Roman" panose="02020603050405020304" pitchFamily="18" charset="0"/>
            </a:endParaRPr>
          </a:p>
        </p:txBody>
      </p:sp>
      <p:sp>
        <p:nvSpPr>
          <p:cNvPr id="1048642" name="Slide Number Placeholder 5"/>
          <p:cNvSpPr>
            <a:spLocks noGrp="1"/>
          </p:cNvSpPr>
          <p:nvPr>
            <p:ph type="sldNum" sz="quarter" idx="12"/>
          </p:nvPr>
        </p:nvSpPr>
        <p:spPr/>
        <p:txBody>
          <a:bodyPr/>
          <a:lstStyle/>
          <a:p>
            <a:fld id="{96B9CE5D-B6B3-477C-B60B-1D633FD34024}"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itle 1"/>
          <p:cNvSpPr>
            <a:spLocks noGrp="1"/>
          </p:cNvSpPr>
          <p:nvPr>
            <p:ph type="title"/>
          </p:nvPr>
        </p:nvSpPr>
        <p:spPr/>
        <p:txBody>
          <a:bodyPr>
            <a:normAutofit fontScale="90000"/>
          </a:bodyPr>
          <a:lstStyle/>
          <a:p>
            <a:r>
              <a:rPr lang="en-US" dirty="0">
                <a:cs typeface="Times New Roman" pitchFamily="18" charset="0"/>
              </a:rPr>
              <a:t>SYSTEM ARCHITECTURE </a:t>
            </a:r>
            <a:endParaRPr lang="en-US" dirty="0"/>
          </a:p>
        </p:txBody>
      </p:sp>
      <p:sp>
        <p:nvSpPr>
          <p:cNvPr id="1048646" name="Slide Number Placeholder 5"/>
          <p:cNvSpPr>
            <a:spLocks noGrp="1"/>
          </p:cNvSpPr>
          <p:nvPr>
            <p:ph type="sldNum" sz="quarter" idx="12"/>
          </p:nvPr>
        </p:nvSpPr>
        <p:spPr/>
        <p:txBody>
          <a:bodyPr/>
          <a:lstStyle/>
          <a:p>
            <a:fld id="{96B9CE5D-B6B3-477C-B60B-1D633FD34024}" type="slidenum">
              <a:rPr lang="en-US" smtClean="0"/>
              <a:pPr/>
              <a:t>8</a:t>
            </a:fld>
            <a:endParaRPr lang="en-US"/>
          </a:p>
        </p:txBody>
      </p:sp>
      <p:sp>
        <p:nvSpPr>
          <p:cNvPr id="5" name="Content Placeholder 4">
            <a:extLst>
              <a:ext uri="{FF2B5EF4-FFF2-40B4-BE49-F238E27FC236}">
                <a16:creationId xmlns="" xmlns:a16="http://schemas.microsoft.com/office/drawing/2014/main" id="{56AD24AC-F1DC-4795-977A-CE4B9665D073}"/>
              </a:ext>
            </a:extLst>
          </p:cNvPr>
          <p:cNvSpPr>
            <a:spLocks noGrp="1"/>
          </p:cNvSpPr>
          <p:nvPr>
            <p:ph idx="1"/>
          </p:nvPr>
        </p:nvSpPr>
        <p:spPr/>
        <p:txBody>
          <a:bodyPr/>
          <a:lstStyle/>
          <a:p>
            <a:endParaRPr lang="en-IN"/>
          </a:p>
        </p:txBody>
      </p:sp>
      <p:pic>
        <p:nvPicPr>
          <p:cNvPr id="12" name="Picture 11">
            <a:extLst>
              <a:ext uri="{FF2B5EF4-FFF2-40B4-BE49-F238E27FC236}">
                <a16:creationId xmlns="" xmlns:a16="http://schemas.microsoft.com/office/drawing/2014/main" id="{2BDC02C9-D234-44B1-82C8-30BF4C49935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828800"/>
            <a:ext cx="7315200" cy="40385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Title 1"/>
          <p:cNvSpPr>
            <a:spLocks noGrp="1"/>
          </p:cNvSpPr>
          <p:nvPr>
            <p:ph type="title"/>
          </p:nvPr>
        </p:nvSpPr>
        <p:spPr/>
        <p:txBody>
          <a:bodyPr>
            <a:normAutofit/>
          </a:bodyPr>
          <a:lstStyle/>
          <a:p>
            <a:r>
              <a:rPr lang="en-US" sz="3000" dirty="0">
                <a:cs typeface="Times New Roman" pitchFamily="18" charset="0"/>
              </a:rPr>
              <a:t>FUNCTIONAL ARCHITECTURE</a:t>
            </a:r>
          </a:p>
        </p:txBody>
      </p:sp>
      <p:sp>
        <p:nvSpPr>
          <p:cNvPr id="1048654" name="Slide Number Placeholder 5"/>
          <p:cNvSpPr>
            <a:spLocks noGrp="1"/>
          </p:cNvSpPr>
          <p:nvPr>
            <p:ph type="sldNum" sz="quarter" idx="12"/>
          </p:nvPr>
        </p:nvSpPr>
        <p:spPr/>
        <p:txBody>
          <a:bodyPr/>
          <a:lstStyle/>
          <a:p>
            <a:fld id="{96B9CE5D-B6B3-477C-B60B-1D633FD34024}" type="slidenum">
              <a:rPr lang="en-US" smtClean="0"/>
              <a:pPr/>
              <a:t>9</a:t>
            </a:fld>
            <a:endParaRPr lang="en-US" dirty="0"/>
          </a:p>
        </p:txBody>
      </p:sp>
      <p:sp>
        <p:nvSpPr>
          <p:cNvPr id="3" name="Content Placeholder 2">
            <a:extLst>
              <a:ext uri="{FF2B5EF4-FFF2-40B4-BE49-F238E27FC236}">
                <a16:creationId xmlns="" xmlns:a16="http://schemas.microsoft.com/office/drawing/2014/main" id="{6C1394A9-675F-48DF-AAB2-9C7A40F77D20}"/>
              </a:ext>
            </a:extLst>
          </p:cNvPr>
          <p:cNvSpPr>
            <a:spLocks noGrp="1"/>
          </p:cNvSpPr>
          <p:nvPr>
            <p:ph idx="1"/>
          </p:nvPr>
        </p:nvSpPr>
        <p:spPr/>
        <p:txBody>
          <a:bodyPr/>
          <a:lstStyle/>
          <a:p>
            <a:endParaRPr lang="en-IN"/>
          </a:p>
        </p:txBody>
      </p:sp>
      <p:pic>
        <p:nvPicPr>
          <p:cNvPr id="9" name="Picture 8">
            <a:extLst>
              <a:ext uri="{FF2B5EF4-FFF2-40B4-BE49-F238E27FC236}">
                <a16:creationId xmlns="" xmlns:a16="http://schemas.microsoft.com/office/drawing/2014/main" id="{33401FA7-F01A-4F72-A598-612B11BA40A9}"/>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143000" y="1411269"/>
            <a:ext cx="7213600" cy="49809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Title 1"/>
          <p:cNvSpPr>
            <a:spLocks noGrp="1"/>
          </p:cNvSpPr>
          <p:nvPr>
            <p:ph type="title"/>
          </p:nvPr>
        </p:nvSpPr>
        <p:spPr/>
        <p:txBody>
          <a:bodyPr>
            <a:normAutofit/>
          </a:bodyPr>
          <a:lstStyle/>
          <a:p>
            <a:r>
              <a:rPr lang="en-US" sz="3000" dirty="0">
                <a:cs typeface="Times New Roman" pitchFamily="18" charset="0"/>
              </a:rPr>
              <a:t>SYSTEM REQUIREMENTS</a:t>
            </a:r>
          </a:p>
        </p:txBody>
      </p:sp>
      <p:sp>
        <p:nvSpPr>
          <p:cNvPr id="1048656" name="Content Placeholder 2"/>
          <p:cNvSpPr>
            <a:spLocks noGrp="1"/>
          </p:cNvSpPr>
          <p:nvPr>
            <p:ph idx="1"/>
          </p:nvPr>
        </p:nvSpPr>
        <p:spPr/>
        <p:txBody>
          <a:bodyPr>
            <a:normAutofit fontScale="88333"/>
          </a:bodyPr>
          <a:lstStyle/>
          <a:p>
            <a:pPr>
              <a:buNone/>
            </a:pPr>
            <a:r>
              <a:rPr lang="en-US" sz="2400" dirty="0">
                <a:cs typeface="Times New Roman" pitchFamily="18" charset="0"/>
              </a:rPr>
              <a:t>Hardware Requirements:</a:t>
            </a:r>
          </a:p>
          <a:p>
            <a:r>
              <a:rPr lang="en-US" sz="2400" dirty="0"/>
              <a:t>Processor                  :    Intel i5 or more</a:t>
            </a:r>
          </a:p>
          <a:p>
            <a:r>
              <a:rPr lang="en-US" sz="2400" dirty="0"/>
              <a:t>Motherboard 	 :    Intel Chipset </a:t>
            </a:r>
          </a:p>
          <a:p>
            <a:r>
              <a:rPr lang="en-US" sz="2400" dirty="0"/>
              <a:t>Ram                            :    </a:t>
            </a:r>
            <a:r>
              <a:rPr lang="en-US" sz="2400" dirty="0" smtClean="0"/>
              <a:t>8GB </a:t>
            </a:r>
            <a:r>
              <a:rPr lang="en-US" sz="2400" dirty="0"/>
              <a:t>or more</a:t>
            </a:r>
          </a:p>
          <a:p>
            <a:r>
              <a:rPr lang="en-US" sz="2400" dirty="0"/>
              <a:t>Hard disk                   :    </a:t>
            </a:r>
            <a:r>
              <a:rPr lang="en-US" sz="2400" dirty="0" smtClean="0"/>
              <a:t>100 </a:t>
            </a:r>
            <a:r>
              <a:rPr lang="en-US" sz="2400" dirty="0"/>
              <a:t>GB hard disk recommended</a:t>
            </a:r>
          </a:p>
          <a:p>
            <a:pPr>
              <a:buNone/>
            </a:pPr>
            <a:endParaRPr lang="en-US" sz="2400" dirty="0">
              <a:cs typeface="Times New Roman" pitchFamily="18" charset="0"/>
            </a:endParaRPr>
          </a:p>
          <a:p>
            <a:pPr>
              <a:buNone/>
            </a:pPr>
            <a:r>
              <a:rPr lang="en-US" sz="2400" dirty="0">
                <a:cs typeface="Times New Roman" pitchFamily="18" charset="0"/>
              </a:rPr>
              <a:t>Software Requirements:</a:t>
            </a:r>
          </a:p>
          <a:p>
            <a:r>
              <a:rPr lang="en-US" sz="2400" dirty="0"/>
              <a:t> Operating System    :  Windows 7/8/8.1/10  </a:t>
            </a:r>
          </a:p>
          <a:p>
            <a:r>
              <a:rPr lang="en-US" sz="2400" dirty="0"/>
              <a:t> SDK                             :  Python 3.9.5 </a:t>
            </a:r>
          </a:p>
          <a:p>
            <a:r>
              <a:rPr lang="en-US" sz="2400" dirty="0"/>
              <a:t> Language                   :  Python &amp; Libraries</a:t>
            </a:r>
          </a:p>
        </p:txBody>
      </p:sp>
      <p:sp>
        <p:nvSpPr>
          <p:cNvPr id="1048659" name="Slide Number Placeholder 5"/>
          <p:cNvSpPr>
            <a:spLocks noGrp="1"/>
          </p:cNvSpPr>
          <p:nvPr>
            <p:ph type="sldNum" sz="quarter" idx="12"/>
          </p:nvPr>
        </p:nvSpPr>
        <p:spPr/>
        <p:txBody>
          <a:bodyPr/>
          <a:lstStyle/>
          <a:p>
            <a:fld id="{96B9CE5D-B6B3-477C-B60B-1D633FD34024}"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Title 1"/>
          <p:cNvSpPr>
            <a:spLocks noGrp="1"/>
          </p:cNvSpPr>
          <p:nvPr>
            <p:ph type="title"/>
          </p:nvPr>
        </p:nvSpPr>
        <p:spPr/>
        <p:txBody>
          <a:bodyPr>
            <a:normAutofit/>
          </a:bodyPr>
          <a:lstStyle/>
          <a:p>
            <a:r>
              <a:rPr lang="en-US" sz="3000" dirty="0">
                <a:cs typeface="Times New Roman" pitchFamily="18" charset="0"/>
              </a:rPr>
              <a:t>LIST OF MODULES</a:t>
            </a:r>
          </a:p>
        </p:txBody>
      </p:sp>
      <p:sp>
        <p:nvSpPr>
          <p:cNvPr id="1048661" name="Content Placeholder 2"/>
          <p:cNvSpPr>
            <a:spLocks noGrp="1"/>
          </p:cNvSpPr>
          <p:nvPr>
            <p:ph idx="1"/>
          </p:nvPr>
        </p:nvSpPr>
        <p:spPr/>
        <p:txBody>
          <a:bodyPr>
            <a:normAutofit lnSpcReduction="10000"/>
          </a:bodyPr>
          <a:lstStyle/>
          <a:p>
            <a:pPr>
              <a:buNone/>
            </a:pPr>
            <a:endParaRPr lang="en-IN" sz="2500" dirty="0"/>
          </a:p>
          <a:p>
            <a:r>
              <a:rPr lang="en-IN" sz="2500" dirty="0"/>
              <a:t>Data Collection </a:t>
            </a:r>
          </a:p>
          <a:p>
            <a:r>
              <a:rPr lang="en-IN" sz="2500" dirty="0"/>
              <a:t>Data Pre-Processing</a:t>
            </a:r>
          </a:p>
          <a:p>
            <a:r>
              <a:rPr lang="en-IN" sz="2500" dirty="0"/>
              <a:t>Data Mining </a:t>
            </a:r>
            <a:r>
              <a:rPr lang="en-IN" sz="2500" dirty="0" smtClean="0"/>
              <a:t>Techniques</a:t>
            </a:r>
            <a:endParaRPr lang="en-IN" sz="2500" dirty="0"/>
          </a:p>
          <a:p>
            <a:r>
              <a:rPr lang="en-IN" sz="2500" dirty="0" smtClean="0"/>
              <a:t>Exploratory Data Analysis</a:t>
            </a:r>
          </a:p>
          <a:p>
            <a:r>
              <a:rPr lang="en-IN" sz="2500" dirty="0" smtClean="0"/>
              <a:t>Classification through Machine Learning</a:t>
            </a:r>
          </a:p>
          <a:p>
            <a:r>
              <a:rPr lang="en-IN" sz="2500" dirty="0" smtClean="0"/>
              <a:t>Predicting Wine Type</a:t>
            </a:r>
          </a:p>
          <a:p>
            <a:r>
              <a:rPr lang="en-IN" sz="2500" dirty="0" smtClean="0"/>
              <a:t>Predicting Quality of Wine</a:t>
            </a:r>
          </a:p>
          <a:p>
            <a:endParaRPr lang="en-IN" sz="2500" dirty="0"/>
          </a:p>
          <a:p>
            <a:pPr>
              <a:buNone/>
            </a:pPr>
            <a:r>
              <a:rPr lang="en-IN" sz="2500" dirty="0"/>
              <a:t> </a:t>
            </a:r>
          </a:p>
        </p:txBody>
      </p:sp>
      <p:sp>
        <p:nvSpPr>
          <p:cNvPr id="1048664" name="Slide Number Placeholder 5"/>
          <p:cNvSpPr>
            <a:spLocks noGrp="1"/>
          </p:cNvSpPr>
          <p:nvPr>
            <p:ph type="sldNum" sz="quarter" idx="12"/>
          </p:nvPr>
        </p:nvSpPr>
        <p:spPr/>
        <p:txBody>
          <a:bodyPr/>
          <a:lstStyle/>
          <a:p>
            <a:fld id="{96B9CE5D-B6B3-477C-B60B-1D633FD34024}"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Title 1"/>
          <p:cNvSpPr>
            <a:spLocks noGrp="1"/>
          </p:cNvSpPr>
          <p:nvPr>
            <p:ph type="title"/>
          </p:nvPr>
        </p:nvSpPr>
        <p:spPr/>
        <p:txBody>
          <a:bodyPr>
            <a:normAutofit/>
          </a:bodyPr>
          <a:lstStyle/>
          <a:p>
            <a:r>
              <a:rPr lang="en-US" sz="4000" dirty="0">
                <a:cs typeface="Times New Roman" pitchFamily="18" charset="0"/>
              </a:rPr>
              <a:t>MODULE DESCRIPTION</a:t>
            </a:r>
          </a:p>
        </p:txBody>
      </p:sp>
      <p:sp>
        <p:nvSpPr>
          <p:cNvPr id="1048666" name="Content Placeholder 2"/>
          <p:cNvSpPr>
            <a:spLocks noGrp="1"/>
          </p:cNvSpPr>
          <p:nvPr>
            <p:ph idx="1"/>
          </p:nvPr>
        </p:nvSpPr>
        <p:spPr>
          <a:xfrm>
            <a:off x="-304800" y="1143000"/>
            <a:ext cx="8991600" cy="6172200"/>
          </a:xfrm>
        </p:spPr>
        <p:txBody>
          <a:bodyPr>
            <a:normAutofit fontScale="95833"/>
          </a:bodyPr>
          <a:lstStyle/>
          <a:p>
            <a:pPr marL="914400" lvl="2" indent="0" algn="just">
              <a:buSzPts val="1400"/>
              <a:buNone/>
              <a:tabLst>
                <a:tab pos="1067435" algn="l"/>
              </a:tabLst>
            </a:pPr>
            <a:r>
              <a:rPr lang="en-US" b="1" spc="-50" dirty="0" smtClean="0">
                <a:effectLst/>
                <a:ea typeface="Times New Roman" panose="02020603050405020304" pitchFamily="18" charset="0"/>
              </a:rPr>
              <a:t>Data </a:t>
            </a:r>
            <a:r>
              <a:rPr lang="en-US" b="1" spc="-50" dirty="0">
                <a:effectLst/>
                <a:ea typeface="Times New Roman" panose="02020603050405020304" pitchFamily="18" charset="0"/>
              </a:rPr>
              <a:t>Collection</a:t>
            </a:r>
          </a:p>
          <a:p>
            <a:pPr lvl="2" algn="just">
              <a:buSzPts val="1400"/>
              <a:tabLst>
                <a:tab pos="1067435" algn="l"/>
              </a:tabLst>
            </a:pPr>
            <a:r>
              <a:rPr lang="en-GB" dirty="0">
                <a:effectLst/>
                <a:ea typeface="Times New Roman" panose="02020603050405020304" pitchFamily="18" charset="0"/>
              </a:rPr>
              <a:t> </a:t>
            </a:r>
            <a:r>
              <a:rPr lang="en-IN" dirty="0">
                <a:solidFill>
                  <a:srgbClr val="000000"/>
                </a:solidFill>
                <a:effectLst/>
                <a:ea typeface="Times New Roman" panose="02020603050405020304" pitchFamily="18" charset="0"/>
              </a:rPr>
              <a:t>This  wine data  set is  publicly  available  for access  in  the database of UCI. </a:t>
            </a:r>
          </a:p>
          <a:p>
            <a:pPr lvl="2" algn="just">
              <a:buSzPts val="1400"/>
              <a:tabLst>
                <a:tab pos="1067435" algn="l"/>
              </a:tabLst>
            </a:pPr>
            <a:r>
              <a:rPr lang="en-IN" dirty="0">
                <a:solidFill>
                  <a:srgbClr val="000000"/>
                </a:solidFill>
                <a:effectLst/>
                <a:ea typeface="Times New Roman" panose="02020603050405020304" pitchFamily="18" charset="0"/>
              </a:rPr>
              <a:t>it is an open-source data provided by the Kaggle community which is an active participation part of the data science community. </a:t>
            </a:r>
          </a:p>
          <a:p>
            <a:pPr lvl="2" algn="just">
              <a:buSzPts val="1400"/>
              <a:tabLst>
                <a:tab pos="1067435" algn="l"/>
              </a:tabLst>
            </a:pPr>
            <a:r>
              <a:rPr lang="en-IN" dirty="0">
                <a:solidFill>
                  <a:srgbClr val="000000"/>
                </a:solidFill>
                <a:effectLst/>
                <a:ea typeface="Times New Roman" panose="02020603050405020304" pitchFamily="18" charset="0"/>
              </a:rPr>
              <a:t>This data set has been collected from the UCI machine learning repository having two wine data  sets.  </a:t>
            </a:r>
          </a:p>
          <a:p>
            <a:pPr lvl="2" algn="just">
              <a:buSzPts val="1400"/>
              <a:tabLst>
                <a:tab pos="1067435" algn="l"/>
              </a:tabLst>
            </a:pPr>
            <a:r>
              <a:rPr lang="en-IN" dirty="0">
                <a:solidFill>
                  <a:srgbClr val="000000"/>
                </a:solidFill>
                <a:effectLst/>
                <a:ea typeface="Times New Roman" panose="02020603050405020304" pitchFamily="18" charset="0"/>
              </a:rPr>
              <a:t>In  which  the  one  data set  contains information about the  red  wines  and  another contains  the  information about the white wines. </a:t>
            </a:r>
          </a:p>
          <a:p>
            <a:pPr lvl="2" algn="just">
              <a:buSzPts val="1400"/>
              <a:tabLst>
                <a:tab pos="1067435" algn="l"/>
              </a:tabLst>
            </a:pPr>
            <a:r>
              <a:rPr lang="en-IN" dirty="0">
                <a:solidFill>
                  <a:srgbClr val="000000"/>
                </a:solidFill>
                <a:effectLst/>
                <a:ea typeface="Times New Roman" panose="02020603050405020304" pitchFamily="18" charset="0"/>
              </a:rPr>
              <a:t>The data set is a wine quality dataset that is publicly available for research  purposes.</a:t>
            </a:r>
            <a:endParaRPr lang="en-IN" dirty="0"/>
          </a:p>
        </p:txBody>
      </p:sp>
      <p:sp>
        <p:nvSpPr>
          <p:cNvPr id="1048669" name="Slide Number Placeholder 5"/>
          <p:cNvSpPr>
            <a:spLocks noGrp="1"/>
          </p:cNvSpPr>
          <p:nvPr>
            <p:ph type="sldNum" sz="quarter" idx="12"/>
          </p:nvPr>
        </p:nvSpPr>
        <p:spPr/>
        <p:txBody>
          <a:bodyPr/>
          <a:lstStyle/>
          <a:p>
            <a:fld id="{96B9CE5D-B6B3-477C-B60B-1D633FD34024}"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762000"/>
            <a:ext cx="8305800" cy="4830763"/>
          </a:xfrm>
        </p:spPr>
        <p:txBody>
          <a:bodyPr>
            <a:noAutofit/>
          </a:bodyPr>
          <a:lstStyle/>
          <a:p>
            <a:pPr>
              <a:buNone/>
            </a:pPr>
            <a:r>
              <a:rPr lang="en-IN" sz="2000" dirty="0" smtClean="0">
                <a:latin typeface="Times New Roman" pitchFamily="18" charset="0"/>
                <a:cs typeface="Times New Roman" pitchFamily="18" charset="0"/>
              </a:rPr>
              <a:t>Datasets</a:t>
            </a:r>
          </a:p>
          <a:p>
            <a:pPr>
              <a:buNone/>
            </a:pPr>
            <a:endParaRPr lang="en-IN" sz="2000" dirty="0" smtClean="0">
              <a:latin typeface="Times New Roman" pitchFamily="18" charset="0"/>
              <a:cs typeface="Times New Roman" pitchFamily="18" charset="0"/>
            </a:endParaRPr>
          </a:p>
          <a:p>
            <a:pPr>
              <a:buNone/>
            </a:pPr>
            <a:endParaRPr lang="en-IN" sz="2000" dirty="0" smtClean="0">
              <a:latin typeface="Times New Roman" pitchFamily="18" charset="0"/>
              <a:cs typeface="Times New Roman" pitchFamily="18" charset="0"/>
            </a:endParaRPr>
          </a:p>
          <a:p>
            <a:pPr>
              <a:buNone/>
            </a:pPr>
            <a:endParaRPr lang="en-IN" sz="2000" dirty="0" smtClean="0">
              <a:latin typeface="Times New Roman" pitchFamily="18" charset="0"/>
              <a:cs typeface="Times New Roman" pitchFamily="18" charset="0"/>
            </a:endParaRPr>
          </a:p>
          <a:p>
            <a:pPr>
              <a:buNone/>
            </a:pPr>
            <a:endParaRPr lang="en-IN" sz="2000" dirty="0" smtClean="0">
              <a:latin typeface="Times New Roman" pitchFamily="18" charset="0"/>
              <a:cs typeface="Times New Roman" pitchFamily="18" charset="0"/>
            </a:endParaRPr>
          </a:p>
          <a:p>
            <a:pPr>
              <a:buNone/>
            </a:pPr>
            <a:r>
              <a:rPr lang="en-IN" sz="2000" dirty="0" smtClean="0">
                <a:latin typeface="Times New Roman" pitchFamily="18" charset="0"/>
                <a:cs typeface="Times New Roman" pitchFamily="18" charset="0"/>
              </a:rPr>
              <a:t>Description Of Attributes:</a:t>
            </a:r>
          </a:p>
          <a:p>
            <a:pPr marL="457200" indent="-457200">
              <a:buFont typeface="+mj-lt"/>
              <a:buAutoNum type="arabicPeriod"/>
            </a:pPr>
            <a:r>
              <a:rPr lang="en-GB" sz="2000" b="1" dirty="0" smtClean="0">
                <a:latin typeface="Times New Roman" pitchFamily="18" charset="0"/>
                <a:cs typeface="Times New Roman" pitchFamily="18" charset="0"/>
              </a:rPr>
              <a:t>fixed acidity: </a:t>
            </a:r>
            <a:r>
              <a:rPr lang="en-GB" sz="2000" dirty="0" smtClean="0">
                <a:latin typeface="Times New Roman" pitchFamily="18" charset="0"/>
                <a:cs typeface="Times New Roman" pitchFamily="18" charset="0"/>
              </a:rPr>
              <a:t>most acids involved with wine or fixed or </a:t>
            </a:r>
            <a:r>
              <a:rPr lang="en-GB" sz="2000" dirty="0" err="1" smtClean="0">
                <a:latin typeface="Times New Roman" pitchFamily="18" charset="0"/>
                <a:cs typeface="Times New Roman" pitchFamily="18" charset="0"/>
              </a:rPr>
              <a:t>nonvolatile</a:t>
            </a:r>
            <a:r>
              <a:rPr lang="en-GB" sz="2000" dirty="0" smtClean="0">
                <a:latin typeface="Times New Roman" pitchFamily="18" charset="0"/>
                <a:cs typeface="Times New Roman" pitchFamily="18" charset="0"/>
              </a:rPr>
              <a:t> (do not evaporate readily)</a:t>
            </a:r>
          </a:p>
          <a:p>
            <a:pPr marL="457200" indent="-457200">
              <a:buFont typeface="+mj-lt"/>
              <a:buAutoNum type="arabicPeriod"/>
            </a:pPr>
            <a:r>
              <a:rPr lang="en-GB" sz="2000" b="1" dirty="0" smtClean="0">
                <a:latin typeface="Times New Roman" pitchFamily="18" charset="0"/>
                <a:cs typeface="Times New Roman" pitchFamily="18" charset="0"/>
              </a:rPr>
              <a:t> volatile acidity: </a:t>
            </a:r>
            <a:r>
              <a:rPr lang="en-GB" sz="2000" dirty="0" smtClean="0">
                <a:latin typeface="Times New Roman" pitchFamily="18" charset="0"/>
                <a:cs typeface="Times New Roman" pitchFamily="18" charset="0"/>
              </a:rPr>
              <a:t>the amount of acetic acid in wine, which at too high of levels can lead to an unpleasant, vinegar taste</a:t>
            </a:r>
          </a:p>
          <a:p>
            <a:pPr marL="457200" indent="-457200">
              <a:buFont typeface="+mj-lt"/>
              <a:buAutoNum type="arabicPeriod"/>
            </a:pPr>
            <a:r>
              <a:rPr lang="en-GB" sz="2000" b="1" dirty="0" smtClean="0">
                <a:latin typeface="Times New Roman" pitchFamily="18" charset="0"/>
                <a:cs typeface="Times New Roman" pitchFamily="18" charset="0"/>
              </a:rPr>
              <a:t>citric acid: </a:t>
            </a:r>
            <a:r>
              <a:rPr lang="en-GB" sz="2000" dirty="0" smtClean="0">
                <a:latin typeface="Times New Roman" pitchFamily="18" charset="0"/>
                <a:cs typeface="Times New Roman" pitchFamily="18" charset="0"/>
              </a:rPr>
              <a:t>found in small quantities, citric acid can add 'freshness' and </a:t>
            </a:r>
            <a:r>
              <a:rPr lang="en-GB" sz="2000" dirty="0" err="1" smtClean="0">
                <a:latin typeface="Times New Roman" pitchFamily="18" charset="0"/>
                <a:cs typeface="Times New Roman" pitchFamily="18" charset="0"/>
              </a:rPr>
              <a:t>flavor</a:t>
            </a:r>
            <a:r>
              <a:rPr lang="en-GB" sz="2000" dirty="0" smtClean="0">
                <a:latin typeface="Times New Roman" pitchFamily="18" charset="0"/>
                <a:cs typeface="Times New Roman" pitchFamily="18" charset="0"/>
              </a:rPr>
              <a:t> to wines</a:t>
            </a:r>
          </a:p>
          <a:p>
            <a:pPr marL="457200" indent="-457200">
              <a:buFont typeface="+mj-lt"/>
              <a:buAutoNum type="arabicPeriod"/>
            </a:pPr>
            <a:r>
              <a:rPr lang="en-GB" sz="2000" b="1" dirty="0" smtClean="0">
                <a:latin typeface="Times New Roman" pitchFamily="18" charset="0"/>
                <a:cs typeface="Times New Roman" pitchFamily="18" charset="0"/>
              </a:rPr>
              <a:t>residual sugar: </a:t>
            </a:r>
            <a:r>
              <a:rPr lang="en-GB" sz="2000" dirty="0" smtClean="0">
                <a:latin typeface="Times New Roman" pitchFamily="18" charset="0"/>
                <a:cs typeface="Times New Roman" pitchFamily="18" charset="0"/>
              </a:rPr>
              <a:t>the amount of sugar remaining after fermentation stops, it's rare to find wines with less than 1 gram/</a:t>
            </a:r>
            <a:r>
              <a:rPr lang="en-GB" sz="2000" dirty="0" err="1" smtClean="0">
                <a:latin typeface="Times New Roman" pitchFamily="18" charset="0"/>
                <a:cs typeface="Times New Roman" pitchFamily="18" charset="0"/>
              </a:rPr>
              <a:t>liter</a:t>
            </a:r>
            <a:r>
              <a:rPr lang="en-GB" sz="2000" dirty="0" smtClean="0">
                <a:latin typeface="Times New Roman" pitchFamily="18" charset="0"/>
                <a:cs typeface="Times New Roman" pitchFamily="18" charset="0"/>
              </a:rPr>
              <a:t> and wines with greater than 45 grams/</a:t>
            </a:r>
            <a:r>
              <a:rPr lang="en-GB" sz="2000" dirty="0" err="1" smtClean="0">
                <a:latin typeface="Times New Roman" pitchFamily="18" charset="0"/>
                <a:cs typeface="Times New Roman" pitchFamily="18" charset="0"/>
              </a:rPr>
              <a:t>liter</a:t>
            </a:r>
            <a:r>
              <a:rPr lang="en-GB" sz="2000" dirty="0" smtClean="0">
                <a:latin typeface="Times New Roman" pitchFamily="18" charset="0"/>
                <a:cs typeface="Times New Roman" pitchFamily="18" charset="0"/>
              </a:rPr>
              <a:t> are considered sweet</a:t>
            </a:r>
          </a:p>
          <a:p>
            <a:pPr>
              <a:buNone/>
            </a:pPr>
            <a:r>
              <a:rPr lang="en-GB" sz="2400" dirty="0" smtClean="0">
                <a:latin typeface="Times New Roman" pitchFamily="18" charset="0"/>
                <a:cs typeface="Times New Roman" pitchFamily="18" charset="0"/>
              </a:rPr>
              <a:t/>
            </a:r>
            <a:br>
              <a:rPr lang="en-GB" sz="2400" dirty="0" smtClean="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13</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990600" y="1219200"/>
            <a:ext cx="7143923" cy="13525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endParaRPr lang="en-US" dirty="0"/>
          </a:p>
        </p:txBody>
      </p:sp>
      <p:sp>
        <p:nvSpPr>
          <p:cNvPr id="3" name="Content Placeholder 2"/>
          <p:cNvSpPr>
            <a:spLocks noGrp="1"/>
          </p:cNvSpPr>
          <p:nvPr>
            <p:ph idx="1"/>
          </p:nvPr>
        </p:nvSpPr>
        <p:spPr>
          <a:xfrm>
            <a:off x="457200" y="914400"/>
            <a:ext cx="8229600" cy="4525963"/>
          </a:xfrm>
        </p:spPr>
        <p:txBody>
          <a:bodyPr>
            <a:noAutofit/>
          </a:bodyPr>
          <a:lstStyle/>
          <a:p>
            <a:pPr marL="514350" indent="-514350" algn="just">
              <a:buFont typeface="+mj-lt"/>
              <a:buAutoNum type="arabicPeriod" startAt="5"/>
            </a:pPr>
            <a:r>
              <a:rPr lang="en-GB" sz="1900" b="1" dirty="0" smtClean="0">
                <a:latin typeface="Times New Roman" pitchFamily="18" charset="0"/>
                <a:cs typeface="Times New Roman" pitchFamily="18" charset="0"/>
              </a:rPr>
              <a:t>chlorides: </a:t>
            </a:r>
            <a:r>
              <a:rPr lang="en-GB" sz="1900" dirty="0" smtClean="0">
                <a:latin typeface="Times New Roman" pitchFamily="18" charset="0"/>
                <a:cs typeface="Times New Roman" pitchFamily="18" charset="0"/>
              </a:rPr>
              <a:t>the amount of salt in the wine</a:t>
            </a:r>
          </a:p>
          <a:p>
            <a:pPr marL="514350" indent="-514350" algn="just">
              <a:buFont typeface="+mj-lt"/>
              <a:buAutoNum type="arabicPeriod" startAt="5"/>
            </a:pPr>
            <a:r>
              <a:rPr lang="en-GB" sz="1900" b="1" dirty="0" smtClean="0">
                <a:latin typeface="Times New Roman" pitchFamily="18" charset="0"/>
                <a:cs typeface="Times New Roman" pitchFamily="18" charset="0"/>
              </a:rPr>
              <a:t>free </a:t>
            </a:r>
            <a:r>
              <a:rPr lang="en-GB" sz="1900" b="1" dirty="0" err="1" smtClean="0">
                <a:latin typeface="Times New Roman" pitchFamily="18" charset="0"/>
                <a:cs typeface="Times New Roman" pitchFamily="18" charset="0"/>
              </a:rPr>
              <a:t>sulfur</a:t>
            </a:r>
            <a:r>
              <a:rPr lang="en-GB" sz="1900" b="1" dirty="0" smtClean="0">
                <a:latin typeface="Times New Roman" pitchFamily="18" charset="0"/>
                <a:cs typeface="Times New Roman" pitchFamily="18" charset="0"/>
              </a:rPr>
              <a:t> dioxide: </a:t>
            </a:r>
            <a:r>
              <a:rPr lang="en-GB" sz="1900" dirty="0" smtClean="0">
                <a:latin typeface="Times New Roman" pitchFamily="18" charset="0"/>
                <a:cs typeface="Times New Roman" pitchFamily="18" charset="0"/>
              </a:rPr>
              <a:t>the free form of SO2 exists in equilibrium between molecular SO2 (as a dissolved gas) and </a:t>
            </a:r>
            <a:r>
              <a:rPr lang="en-GB" sz="1900" dirty="0" err="1" smtClean="0">
                <a:latin typeface="Times New Roman" pitchFamily="18" charset="0"/>
                <a:cs typeface="Times New Roman" pitchFamily="18" charset="0"/>
              </a:rPr>
              <a:t>bisulfite</a:t>
            </a:r>
            <a:r>
              <a:rPr lang="en-GB" sz="1900" dirty="0" smtClean="0">
                <a:latin typeface="Times New Roman" pitchFamily="18" charset="0"/>
                <a:cs typeface="Times New Roman" pitchFamily="18" charset="0"/>
              </a:rPr>
              <a:t> ion; it prevents microbial growth and the oxidation of wine</a:t>
            </a:r>
          </a:p>
          <a:p>
            <a:pPr marL="514350" indent="-514350" algn="just">
              <a:buFont typeface="+mj-lt"/>
              <a:buAutoNum type="arabicPeriod" startAt="5"/>
            </a:pPr>
            <a:r>
              <a:rPr lang="en-GB" sz="1900" b="1" dirty="0" smtClean="0">
                <a:latin typeface="Times New Roman" pitchFamily="18" charset="0"/>
                <a:cs typeface="Times New Roman" pitchFamily="18" charset="0"/>
              </a:rPr>
              <a:t>total </a:t>
            </a:r>
            <a:r>
              <a:rPr lang="en-GB" sz="1900" b="1" dirty="0" err="1" smtClean="0">
                <a:latin typeface="Times New Roman" pitchFamily="18" charset="0"/>
                <a:cs typeface="Times New Roman" pitchFamily="18" charset="0"/>
              </a:rPr>
              <a:t>sulfur</a:t>
            </a:r>
            <a:r>
              <a:rPr lang="en-GB" sz="1900" b="1" dirty="0" smtClean="0">
                <a:latin typeface="Times New Roman" pitchFamily="18" charset="0"/>
                <a:cs typeface="Times New Roman" pitchFamily="18" charset="0"/>
              </a:rPr>
              <a:t> dioxide: </a:t>
            </a:r>
            <a:r>
              <a:rPr lang="en-GB" sz="1900" dirty="0" smtClean="0">
                <a:latin typeface="Times New Roman" pitchFamily="18" charset="0"/>
                <a:cs typeface="Times New Roman" pitchFamily="18" charset="0"/>
              </a:rPr>
              <a:t>amount of free and bound forms of S02; in low concentrations, SO2 is mostly undetectable in wine, but at free SO2 concentrations over 50 </a:t>
            </a:r>
            <a:r>
              <a:rPr lang="en-GB" sz="1900" dirty="0" err="1" smtClean="0">
                <a:latin typeface="Times New Roman" pitchFamily="18" charset="0"/>
                <a:cs typeface="Times New Roman" pitchFamily="18" charset="0"/>
              </a:rPr>
              <a:t>ppm</a:t>
            </a:r>
            <a:r>
              <a:rPr lang="en-GB" sz="1900" dirty="0" smtClean="0">
                <a:latin typeface="Times New Roman" pitchFamily="18" charset="0"/>
                <a:cs typeface="Times New Roman" pitchFamily="18" charset="0"/>
              </a:rPr>
              <a:t>, SO2 becomes evident in the nose and taste of wine</a:t>
            </a:r>
          </a:p>
          <a:p>
            <a:pPr marL="514350" indent="-514350" algn="just">
              <a:buFont typeface="+mj-lt"/>
              <a:buAutoNum type="arabicPeriod" startAt="5"/>
            </a:pPr>
            <a:r>
              <a:rPr lang="en-GB" sz="1900" b="1" dirty="0" smtClean="0">
                <a:latin typeface="Times New Roman" pitchFamily="18" charset="0"/>
                <a:cs typeface="Times New Roman" pitchFamily="18" charset="0"/>
              </a:rPr>
              <a:t>density: </a:t>
            </a:r>
            <a:r>
              <a:rPr lang="en-GB" sz="1900" dirty="0" smtClean="0">
                <a:latin typeface="Times New Roman" pitchFamily="18" charset="0"/>
                <a:cs typeface="Times New Roman" pitchFamily="18" charset="0"/>
              </a:rPr>
              <a:t>the density of water is close to that of water depending on the percent alcohol and sugar content</a:t>
            </a:r>
          </a:p>
          <a:p>
            <a:pPr marL="514350" indent="-514350" algn="just">
              <a:buFont typeface="+mj-lt"/>
              <a:buAutoNum type="arabicPeriod" startAt="5"/>
            </a:pPr>
            <a:r>
              <a:rPr lang="en-GB" sz="1900" b="1" dirty="0" smtClean="0">
                <a:latin typeface="Times New Roman" pitchFamily="18" charset="0"/>
                <a:cs typeface="Times New Roman" pitchFamily="18" charset="0"/>
              </a:rPr>
              <a:t>pH: </a:t>
            </a:r>
            <a:r>
              <a:rPr lang="en-GB" sz="1900" dirty="0" smtClean="0">
                <a:latin typeface="Times New Roman" pitchFamily="18" charset="0"/>
                <a:cs typeface="Times New Roman" pitchFamily="18" charset="0"/>
              </a:rPr>
              <a:t>describes how acidic or basic a wine is on a scale from 0 (very acidic) to 14 (very basic); most wines are between 3-4 on the pH scale</a:t>
            </a:r>
          </a:p>
          <a:p>
            <a:pPr marL="514350" indent="-514350" algn="just">
              <a:buFont typeface="+mj-lt"/>
              <a:buAutoNum type="arabicPeriod" startAt="5"/>
            </a:pPr>
            <a:r>
              <a:rPr lang="en-GB" sz="1900" b="1" dirty="0" smtClean="0">
                <a:latin typeface="Times New Roman" pitchFamily="18" charset="0"/>
                <a:cs typeface="Times New Roman" pitchFamily="18" charset="0"/>
              </a:rPr>
              <a:t>sulphates: </a:t>
            </a:r>
            <a:r>
              <a:rPr lang="en-GB" sz="1900" dirty="0" smtClean="0">
                <a:latin typeface="Times New Roman" pitchFamily="18" charset="0"/>
                <a:cs typeface="Times New Roman" pitchFamily="18" charset="0"/>
              </a:rPr>
              <a:t>a wine additive which can contribute to </a:t>
            </a:r>
            <a:r>
              <a:rPr lang="en-GB" sz="1900" dirty="0" err="1" smtClean="0">
                <a:latin typeface="Times New Roman" pitchFamily="18" charset="0"/>
                <a:cs typeface="Times New Roman" pitchFamily="18" charset="0"/>
              </a:rPr>
              <a:t>sulfur</a:t>
            </a:r>
            <a:r>
              <a:rPr lang="en-GB" sz="1900" dirty="0" smtClean="0">
                <a:latin typeface="Times New Roman" pitchFamily="18" charset="0"/>
                <a:cs typeface="Times New Roman" pitchFamily="18" charset="0"/>
              </a:rPr>
              <a:t> dioxide gas (S02) levels, which acts as an antimicrobial and antioxidant</a:t>
            </a:r>
          </a:p>
          <a:p>
            <a:pPr marL="514350" indent="-514350" algn="just">
              <a:buFont typeface="+mj-lt"/>
              <a:buAutoNum type="arabicPeriod" startAt="5"/>
            </a:pPr>
            <a:r>
              <a:rPr lang="en-GB" sz="1900" b="1" dirty="0" smtClean="0">
                <a:latin typeface="Times New Roman" pitchFamily="18" charset="0"/>
                <a:cs typeface="Times New Roman" pitchFamily="18" charset="0"/>
              </a:rPr>
              <a:t>11. alcohol: </a:t>
            </a:r>
            <a:r>
              <a:rPr lang="en-GB" sz="1900" dirty="0" smtClean="0">
                <a:latin typeface="Times New Roman" pitchFamily="18" charset="0"/>
                <a:cs typeface="Times New Roman" pitchFamily="18" charset="0"/>
              </a:rPr>
              <a:t>the percent alcohol content of the wine</a:t>
            </a:r>
          </a:p>
          <a:p>
            <a:pPr marL="514350" indent="-514350" algn="just">
              <a:buFont typeface="+mj-lt"/>
              <a:buAutoNum type="arabicPeriod" startAt="5"/>
            </a:pPr>
            <a:r>
              <a:rPr lang="en-GB" sz="1900" b="1" dirty="0" smtClean="0">
                <a:latin typeface="Times New Roman" pitchFamily="18" charset="0"/>
                <a:cs typeface="Times New Roman" pitchFamily="18" charset="0"/>
              </a:rPr>
              <a:t>12. quality </a:t>
            </a:r>
            <a:r>
              <a:rPr lang="en-GB" sz="1900" dirty="0" smtClean="0">
                <a:latin typeface="Times New Roman" pitchFamily="18" charset="0"/>
                <a:cs typeface="Times New Roman" pitchFamily="18" charset="0"/>
              </a:rPr>
              <a:t>(score between 0 and 10): Output variable (based on sensory data)</a:t>
            </a:r>
            <a:endParaRPr lang="en-US" sz="19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Title 1"/>
          <p:cNvSpPr>
            <a:spLocks noGrp="1"/>
          </p:cNvSpPr>
          <p:nvPr>
            <p:ph type="title"/>
          </p:nvPr>
        </p:nvSpPr>
        <p:spPr>
          <a:xfrm>
            <a:off x="381000" y="274638"/>
            <a:ext cx="8305800" cy="487362"/>
          </a:xfrm>
        </p:spPr>
        <p:txBody>
          <a:bodyPr>
            <a:normAutofit fontScale="90000"/>
          </a:bodyPr>
          <a:lstStyle/>
          <a:p>
            <a:endParaRPr lang="en-US" dirty="0"/>
          </a:p>
        </p:txBody>
      </p:sp>
      <p:sp>
        <p:nvSpPr>
          <p:cNvPr id="1048676" name="Content Placeholder 2"/>
          <p:cNvSpPr>
            <a:spLocks noGrp="1"/>
          </p:cNvSpPr>
          <p:nvPr>
            <p:ph idx="1"/>
          </p:nvPr>
        </p:nvSpPr>
        <p:spPr>
          <a:xfrm>
            <a:off x="381000" y="914400"/>
            <a:ext cx="8382000" cy="5486399"/>
          </a:xfrm>
        </p:spPr>
        <p:txBody>
          <a:bodyPr>
            <a:noAutofit/>
          </a:bodyPr>
          <a:lstStyle/>
          <a:p>
            <a:pPr algn="just">
              <a:buNone/>
            </a:pPr>
            <a:r>
              <a:rPr lang="en-GB" sz="2200" b="1" dirty="0">
                <a:latin typeface="Times New Roman" pitchFamily="18" charset="0"/>
                <a:cs typeface="Times New Roman" pitchFamily="18" charset="0"/>
              </a:rPr>
              <a:t>Data Pre-processing</a:t>
            </a:r>
          </a:p>
          <a:p>
            <a:pPr algn="just"/>
            <a:r>
              <a:rPr lang="en-US" sz="2200" dirty="0">
                <a:solidFill>
                  <a:srgbClr val="000000"/>
                </a:solidFill>
                <a:effectLst/>
                <a:latin typeface="Times New Roman" pitchFamily="18" charset="0"/>
                <a:ea typeface="Times New Roman" panose="02020603050405020304" pitchFamily="18" charset="0"/>
                <a:cs typeface="Times New Roman" pitchFamily="18" charset="0"/>
              </a:rPr>
              <a:t> This step analyses the data distribution against various </a:t>
            </a:r>
            <a:r>
              <a:rPr lang="en-US" sz="2200" dirty="0" smtClean="0">
                <a:solidFill>
                  <a:srgbClr val="000000"/>
                </a:solidFill>
                <a:effectLst/>
                <a:latin typeface="Times New Roman" pitchFamily="18" charset="0"/>
                <a:ea typeface="Times New Roman" panose="02020603050405020304" pitchFamily="18" charset="0"/>
                <a:cs typeface="Times New Roman" pitchFamily="18" charset="0"/>
              </a:rPr>
              <a:t>column.</a:t>
            </a:r>
          </a:p>
          <a:p>
            <a:pPr algn="just"/>
            <a:r>
              <a:rPr lang="en-GB" sz="2200" dirty="0" smtClean="0">
                <a:latin typeface="Times New Roman" pitchFamily="18" charset="0"/>
                <a:cs typeface="Times New Roman" pitchFamily="18" charset="0"/>
              </a:rPr>
              <a:t>Loaded both data sets and checked them for nulls. Both data sets were clean, no noise nor missing data. They had the same features.</a:t>
            </a:r>
          </a:p>
          <a:p>
            <a:pPr algn="just"/>
            <a:r>
              <a:rPr lang="en-GB" sz="2200" dirty="0" smtClean="0">
                <a:latin typeface="Times New Roman" pitchFamily="18" charset="0"/>
                <a:cs typeface="Times New Roman" pitchFamily="18" charset="0"/>
              </a:rPr>
              <a:t> In each </a:t>
            </a:r>
            <a:r>
              <a:rPr lang="en-GB" sz="2200" dirty="0" err="1" smtClean="0">
                <a:latin typeface="Times New Roman" pitchFamily="18" charset="0"/>
                <a:cs typeface="Times New Roman" pitchFamily="18" charset="0"/>
              </a:rPr>
              <a:t>dataframe</a:t>
            </a:r>
            <a:r>
              <a:rPr lang="en-GB" sz="2200" dirty="0" smtClean="0">
                <a:latin typeface="Times New Roman" pitchFamily="18" charset="0"/>
                <a:cs typeface="Times New Roman" pitchFamily="18" charset="0"/>
              </a:rPr>
              <a:t> created a new column </a:t>
            </a:r>
            <a:r>
              <a:rPr lang="en-GB" sz="2200" b="1" dirty="0" smtClean="0">
                <a:latin typeface="Times New Roman" pitchFamily="18" charset="0"/>
                <a:cs typeface="Times New Roman" pitchFamily="18" charset="0"/>
              </a:rPr>
              <a:t>“type” </a:t>
            </a:r>
            <a:r>
              <a:rPr lang="en-GB" sz="2200" dirty="0" smtClean="0">
                <a:latin typeface="Times New Roman" pitchFamily="18" charset="0"/>
                <a:cs typeface="Times New Roman" pitchFamily="18" charset="0"/>
              </a:rPr>
              <a:t>with wine type labels, </a:t>
            </a:r>
            <a:r>
              <a:rPr lang="en-GB" sz="2200" b="1" dirty="0" smtClean="0">
                <a:latin typeface="Times New Roman" pitchFamily="18" charset="0"/>
                <a:cs typeface="Times New Roman" pitchFamily="18" charset="0"/>
              </a:rPr>
              <a:t>“red” </a:t>
            </a:r>
            <a:r>
              <a:rPr lang="en-GB" sz="2200" dirty="0" smtClean="0">
                <a:latin typeface="Times New Roman" pitchFamily="18" charset="0"/>
                <a:cs typeface="Times New Roman" pitchFamily="18" charset="0"/>
              </a:rPr>
              <a:t>or </a:t>
            </a:r>
            <a:r>
              <a:rPr lang="en-GB" sz="2200" b="1" dirty="0" smtClean="0">
                <a:latin typeface="Times New Roman" pitchFamily="18" charset="0"/>
                <a:cs typeface="Times New Roman" pitchFamily="18" charset="0"/>
              </a:rPr>
              <a:t>“white”.</a:t>
            </a:r>
          </a:p>
          <a:p>
            <a:pPr algn="just"/>
            <a:r>
              <a:rPr lang="en-GB" sz="2200" dirty="0" smtClean="0">
                <a:latin typeface="Times New Roman" pitchFamily="18" charset="0"/>
                <a:cs typeface="Times New Roman" pitchFamily="18" charset="0"/>
              </a:rPr>
              <a:t>Merged both </a:t>
            </a:r>
            <a:r>
              <a:rPr lang="en-GB" sz="2200" dirty="0" err="1" smtClean="0">
                <a:latin typeface="Times New Roman" pitchFamily="18" charset="0"/>
                <a:cs typeface="Times New Roman" pitchFamily="18" charset="0"/>
              </a:rPr>
              <a:t>dataframes</a:t>
            </a:r>
            <a:r>
              <a:rPr lang="en-GB" sz="2200" dirty="0" smtClean="0">
                <a:latin typeface="Times New Roman" pitchFamily="18" charset="0"/>
                <a:cs typeface="Times New Roman" pitchFamily="18" charset="0"/>
              </a:rPr>
              <a:t> and named the new one </a:t>
            </a:r>
            <a:r>
              <a:rPr lang="en-GB" sz="2200" b="1" dirty="0" smtClean="0">
                <a:latin typeface="Times New Roman" pitchFamily="18" charset="0"/>
                <a:cs typeface="Times New Roman" pitchFamily="18" charset="0"/>
              </a:rPr>
              <a:t>“</a:t>
            </a:r>
            <a:r>
              <a:rPr lang="en-GB" sz="2200" b="1" dirty="0" err="1" smtClean="0">
                <a:latin typeface="Times New Roman" pitchFamily="18" charset="0"/>
                <a:cs typeface="Times New Roman" pitchFamily="18" charset="0"/>
              </a:rPr>
              <a:t>wines”.</a:t>
            </a:r>
            <a:r>
              <a:rPr lang="en-GB" sz="2200" dirty="0" err="1" smtClean="0">
                <a:latin typeface="Times New Roman" pitchFamily="18" charset="0"/>
                <a:cs typeface="Times New Roman" pitchFamily="18" charset="0"/>
              </a:rPr>
              <a:t>Grouped</a:t>
            </a:r>
            <a:r>
              <a:rPr lang="en-GB" sz="2200" dirty="0" smtClean="0">
                <a:latin typeface="Times New Roman" pitchFamily="18" charset="0"/>
                <a:cs typeface="Times New Roman" pitchFamily="18" charset="0"/>
              </a:rPr>
              <a:t> the records into three buckets, based on the quality ratings, and created the new column </a:t>
            </a:r>
            <a:r>
              <a:rPr lang="en-GB" sz="2200" b="1" dirty="0" smtClean="0">
                <a:latin typeface="Times New Roman" pitchFamily="18" charset="0"/>
                <a:cs typeface="Times New Roman" pitchFamily="18" charset="0"/>
              </a:rPr>
              <a:t>“quality class” </a:t>
            </a:r>
            <a:r>
              <a:rPr lang="en-GB" sz="2200" dirty="0" smtClean="0">
                <a:latin typeface="Times New Roman" pitchFamily="18" charset="0"/>
                <a:cs typeface="Times New Roman" pitchFamily="18" charset="0"/>
              </a:rPr>
              <a:t>: </a:t>
            </a:r>
            <a:r>
              <a:rPr lang="en-GB" sz="2200" b="1" dirty="0" smtClean="0">
                <a:latin typeface="Times New Roman" pitchFamily="18" charset="0"/>
                <a:cs typeface="Times New Roman" pitchFamily="18" charset="0"/>
              </a:rPr>
              <a:t>low </a:t>
            </a:r>
            <a:r>
              <a:rPr lang="en-GB" sz="2200" dirty="0" smtClean="0">
                <a:latin typeface="Times New Roman" pitchFamily="18" charset="0"/>
                <a:cs typeface="Times New Roman" pitchFamily="18" charset="0"/>
              </a:rPr>
              <a:t>for quality below 5; </a:t>
            </a:r>
            <a:r>
              <a:rPr lang="en-GB" sz="2200" b="1" dirty="0" smtClean="0">
                <a:latin typeface="Times New Roman" pitchFamily="18" charset="0"/>
                <a:cs typeface="Times New Roman" pitchFamily="18" charset="0"/>
              </a:rPr>
              <a:t>medium </a:t>
            </a:r>
            <a:r>
              <a:rPr lang="en-GB" sz="2200" dirty="0" smtClean="0">
                <a:latin typeface="Times New Roman" pitchFamily="18" charset="0"/>
                <a:cs typeface="Times New Roman" pitchFamily="18" charset="0"/>
              </a:rPr>
              <a:t>for quality 6 and 7; </a:t>
            </a:r>
            <a:r>
              <a:rPr lang="en-GB" sz="2200" b="1" dirty="0" smtClean="0">
                <a:latin typeface="Times New Roman" pitchFamily="18" charset="0"/>
                <a:cs typeface="Times New Roman" pitchFamily="18" charset="0"/>
              </a:rPr>
              <a:t>high </a:t>
            </a:r>
            <a:r>
              <a:rPr lang="en-GB" sz="2200" dirty="0" smtClean="0">
                <a:latin typeface="Times New Roman" pitchFamily="18" charset="0"/>
                <a:cs typeface="Times New Roman" pitchFamily="18" charset="0"/>
              </a:rPr>
              <a:t>for quality  above 7.</a:t>
            </a:r>
          </a:p>
          <a:p>
            <a:pPr algn="just"/>
            <a:r>
              <a:rPr lang="en-GB" sz="2200" dirty="0" smtClean="0">
                <a:latin typeface="Times New Roman" pitchFamily="18" charset="0"/>
                <a:cs typeface="Times New Roman" pitchFamily="18" charset="0"/>
              </a:rPr>
              <a:t>Created the column </a:t>
            </a:r>
            <a:r>
              <a:rPr lang="en-GB" sz="2200" b="1" dirty="0" smtClean="0">
                <a:latin typeface="Times New Roman" pitchFamily="18" charset="0"/>
                <a:cs typeface="Times New Roman" pitchFamily="18" charset="0"/>
              </a:rPr>
              <a:t>“</a:t>
            </a:r>
            <a:r>
              <a:rPr lang="en-GB" sz="2200" b="1" dirty="0" err="1" smtClean="0">
                <a:latin typeface="Times New Roman" pitchFamily="18" charset="0"/>
                <a:cs typeface="Times New Roman" pitchFamily="18" charset="0"/>
              </a:rPr>
              <a:t>color</a:t>
            </a:r>
            <a:r>
              <a:rPr lang="en-GB" sz="2200" b="1" dirty="0" smtClean="0">
                <a:latin typeface="Times New Roman" pitchFamily="18" charset="0"/>
                <a:cs typeface="Times New Roman" pitchFamily="18" charset="0"/>
              </a:rPr>
              <a:t>” </a:t>
            </a:r>
            <a:r>
              <a:rPr lang="en-GB" sz="2200" dirty="0" smtClean="0">
                <a:latin typeface="Times New Roman" pitchFamily="18" charset="0"/>
                <a:cs typeface="Times New Roman" pitchFamily="18" charset="0"/>
              </a:rPr>
              <a:t>with encoded labels (red : 0, white : 1), this is the target for the Wine type.</a:t>
            </a:r>
          </a:p>
          <a:p>
            <a:pPr algn="just"/>
            <a:r>
              <a:rPr lang="en-GB" sz="2200" dirty="0" smtClean="0">
                <a:latin typeface="Times New Roman" pitchFamily="18" charset="0"/>
                <a:cs typeface="Times New Roman" pitchFamily="18" charset="0"/>
              </a:rPr>
              <a:t>Converted non-numeric </a:t>
            </a:r>
            <a:r>
              <a:rPr lang="en-GB" sz="2200" b="1" dirty="0" smtClean="0">
                <a:latin typeface="Times New Roman" pitchFamily="18" charset="0"/>
                <a:cs typeface="Times New Roman" pitchFamily="18" charset="0"/>
              </a:rPr>
              <a:t>“quality class” </a:t>
            </a:r>
            <a:r>
              <a:rPr lang="en-GB" sz="2200" dirty="0" smtClean="0">
                <a:latin typeface="Times New Roman" pitchFamily="18" charset="0"/>
                <a:cs typeface="Times New Roman" pitchFamily="18" charset="0"/>
              </a:rPr>
              <a:t>labels to numeric labels, according to the dictionary's mapping (low : 0, medium : 1, high : 2). This series “</a:t>
            </a:r>
            <a:r>
              <a:rPr lang="en-GB" sz="2200" dirty="0" err="1" smtClean="0">
                <a:latin typeface="Times New Roman" pitchFamily="18" charset="0"/>
                <a:cs typeface="Times New Roman" pitchFamily="18" charset="0"/>
              </a:rPr>
              <a:t>y_qclass</a:t>
            </a:r>
            <a:r>
              <a:rPr lang="en-GB" sz="2200" dirty="0" smtClean="0">
                <a:latin typeface="Times New Roman" pitchFamily="18" charset="0"/>
                <a:cs typeface="Times New Roman" pitchFamily="18" charset="0"/>
              </a:rPr>
              <a:t>” is the target for the Quality of wine.</a:t>
            </a:r>
            <a:endParaRPr lang="en-GB" sz="2200" b="1" dirty="0">
              <a:latin typeface="Times New Roman" pitchFamily="18" charset="0"/>
              <a:cs typeface="Times New Roman" pitchFamily="18" charset="0"/>
            </a:endParaRPr>
          </a:p>
        </p:txBody>
      </p:sp>
      <p:sp>
        <p:nvSpPr>
          <p:cNvPr id="1048679" name="Slide Number Placeholder 5"/>
          <p:cNvSpPr>
            <a:spLocks noGrp="1"/>
          </p:cNvSpPr>
          <p:nvPr>
            <p:ph type="sldNum" sz="quarter" idx="12"/>
          </p:nvPr>
        </p:nvSpPr>
        <p:spPr/>
        <p:txBody>
          <a:bodyPr/>
          <a:lstStyle/>
          <a:p>
            <a:fld id="{96B9CE5D-B6B3-477C-B60B-1D633FD34024}"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Title 1"/>
          <p:cNvSpPr>
            <a:spLocks noGrp="1"/>
          </p:cNvSpPr>
          <p:nvPr>
            <p:ph type="title"/>
          </p:nvPr>
        </p:nvSpPr>
        <p:spPr>
          <a:xfrm>
            <a:off x="304800" y="274638"/>
            <a:ext cx="8610600" cy="639762"/>
          </a:xfrm>
        </p:spPr>
        <p:txBody>
          <a:bodyPr>
            <a:normAutofit fontScale="90000"/>
          </a:bodyPr>
          <a:lstStyle/>
          <a:p>
            <a:endParaRPr lang="en-US" dirty="0"/>
          </a:p>
        </p:txBody>
      </p:sp>
      <p:sp>
        <p:nvSpPr>
          <p:cNvPr id="1048671" name="Content Placeholder 2"/>
          <p:cNvSpPr>
            <a:spLocks noGrp="1"/>
          </p:cNvSpPr>
          <p:nvPr>
            <p:ph idx="1"/>
          </p:nvPr>
        </p:nvSpPr>
        <p:spPr>
          <a:xfrm>
            <a:off x="304800" y="304800"/>
            <a:ext cx="8534400" cy="5059363"/>
          </a:xfrm>
        </p:spPr>
        <p:txBody>
          <a:bodyPr>
            <a:noAutofit/>
          </a:bodyPr>
          <a:lstStyle/>
          <a:p>
            <a:pPr algn="just">
              <a:buNone/>
            </a:pPr>
            <a:r>
              <a:rPr lang="en-GB" sz="2000" b="1" spc="-50" dirty="0" smtClean="0">
                <a:effectLst/>
                <a:latin typeface="Times New Roman" pitchFamily="18" charset="0"/>
                <a:ea typeface="Times New Roman" panose="02020603050405020304" pitchFamily="18" charset="0"/>
                <a:cs typeface="Times New Roman" pitchFamily="18" charset="0"/>
              </a:rPr>
              <a:t>Data </a:t>
            </a:r>
            <a:r>
              <a:rPr lang="en-GB" sz="2000" b="1" spc="-50" dirty="0">
                <a:effectLst/>
                <a:latin typeface="Times New Roman" pitchFamily="18" charset="0"/>
                <a:ea typeface="Times New Roman" panose="02020603050405020304" pitchFamily="18" charset="0"/>
                <a:cs typeface="Times New Roman" pitchFamily="18" charset="0"/>
              </a:rPr>
              <a:t>Mining </a:t>
            </a:r>
            <a:r>
              <a:rPr lang="en-GB" sz="2000" b="1" spc="-50" dirty="0" smtClean="0">
                <a:effectLst/>
                <a:latin typeface="Times New Roman" pitchFamily="18" charset="0"/>
                <a:ea typeface="Times New Roman" panose="02020603050405020304" pitchFamily="18" charset="0"/>
                <a:cs typeface="Times New Roman" pitchFamily="18" charset="0"/>
              </a:rPr>
              <a:t>Techniques</a:t>
            </a:r>
            <a:endParaRPr lang="en-IN" sz="2000" dirty="0">
              <a:solidFill>
                <a:srgbClr val="000000"/>
              </a:solidFill>
              <a:latin typeface="Times New Roman" pitchFamily="18" charset="0"/>
              <a:ea typeface="Times New Roman" panose="02020603050405020304" pitchFamily="18" charset="0"/>
              <a:cs typeface="Times New Roman" pitchFamily="18" charset="0"/>
            </a:endParaRPr>
          </a:p>
          <a:p>
            <a:pPr algn="just"/>
            <a:r>
              <a:rPr lang="en-IN" sz="2000" dirty="0" smtClean="0">
                <a:solidFill>
                  <a:srgbClr val="000000"/>
                </a:solidFill>
                <a:effectLst/>
                <a:latin typeface="Times New Roman" pitchFamily="18" charset="0"/>
                <a:ea typeface="Times New Roman" panose="02020603050405020304" pitchFamily="18" charset="0"/>
                <a:cs typeface="Times New Roman" pitchFamily="18" charset="0"/>
              </a:rPr>
              <a:t>Three </a:t>
            </a:r>
            <a:r>
              <a:rPr lang="en-IN" sz="2000" dirty="0">
                <a:solidFill>
                  <a:srgbClr val="000000"/>
                </a:solidFill>
                <a:effectLst/>
                <a:latin typeface="Times New Roman" pitchFamily="18" charset="0"/>
                <a:ea typeface="Times New Roman" panose="02020603050405020304" pitchFamily="18" charset="0"/>
                <a:cs typeface="Times New Roman" pitchFamily="18" charset="0"/>
              </a:rPr>
              <a:t>different data mining algorithms  were  used  in  our  study.  Those classification algorithms applied  on  the  data  set  are  </a:t>
            </a:r>
            <a:r>
              <a:rPr lang="en-IN" sz="2000" dirty="0" smtClean="0">
                <a:solidFill>
                  <a:srgbClr val="000000"/>
                </a:solidFill>
                <a:latin typeface="Times New Roman" pitchFamily="18" charset="0"/>
                <a:ea typeface="Times New Roman" panose="02020603050405020304" pitchFamily="18" charset="0"/>
                <a:cs typeface="Times New Roman" pitchFamily="18" charset="0"/>
              </a:rPr>
              <a:t>decision tree</a:t>
            </a:r>
            <a:r>
              <a:rPr lang="en-IN" sz="2000" dirty="0" smtClean="0">
                <a:solidFill>
                  <a:srgbClr val="000000"/>
                </a:solidFill>
                <a:effectLst/>
                <a:latin typeface="Times New Roman" pitchFamily="18" charset="0"/>
                <a:ea typeface="Times New Roman" panose="02020603050405020304" pitchFamily="18" charset="0"/>
                <a:cs typeface="Times New Roman" pitchFamily="18" charset="0"/>
              </a:rPr>
              <a:t>, </a:t>
            </a:r>
            <a:r>
              <a:rPr lang="en-IN" sz="2000" dirty="0">
                <a:solidFill>
                  <a:srgbClr val="000000"/>
                </a:solidFill>
                <a:effectLst/>
                <a:latin typeface="Times New Roman" pitchFamily="18" charset="0"/>
                <a:ea typeface="Times New Roman" panose="02020603050405020304" pitchFamily="18" charset="0"/>
                <a:cs typeface="Times New Roman" pitchFamily="18" charset="0"/>
              </a:rPr>
              <a:t>random forests (RF), and support vector machines. </a:t>
            </a:r>
          </a:p>
          <a:p>
            <a:pPr algn="just"/>
            <a:r>
              <a:rPr lang="en-US" sz="2000" dirty="0">
                <a:solidFill>
                  <a:srgbClr val="000000"/>
                </a:solidFill>
                <a:effectLst/>
                <a:latin typeface="Times New Roman" pitchFamily="18" charset="0"/>
                <a:ea typeface="Times New Roman" panose="02020603050405020304" pitchFamily="18" charset="0"/>
                <a:cs typeface="Times New Roman" pitchFamily="18" charset="0"/>
              </a:rPr>
              <a:t>The dataset has 12 features. Among twelve features 11 features are independent variables and one dependent variable. </a:t>
            </a:r>
          </a:p>
          <a:p>
            <a:pPr algn="just"/>
            <a:r>
              <a:rPr lang="en-US" sz="2000" dirty="0">
                <a:solidFill>
                  <a:srgbClr val="000000"/>
                </a:solidFill>
                <a:effectLst/>
                <a:latin typeface="Times New Roman" pitchFamily="18" charset="0"/>
                <a:ea typeface="Times New Roman" panose="02020603050405020304" pitchFamily="18" charset="0"/>
                <a:cs typeface="Times New Roman" pitchFamily="18" charset="0"/>
              </a:rPr>
              <a:t>Two categories of wine analyzed red wine and white one. In our analysis we have considered </a:t>
            </a:r>
            <a:r>
              <a:rPr lang="en-US" sz="2000" dirty="0" smtClean="0">
                <a:solidFill>
                  <a:srgbClr val="000000"/>
                </a:solidFill>
                <a:effectLst/>
                <a:latin typeface="Times New Roman" pitchFamily="18" charset="0"/>
                <a:ea typeface="Times New Roman" panose="02020603050405020304" pitchFamily="18" charset="0"/>
                <a:cs typeface="Times New Roman" pitchFamily="18" charset="0"/>
              </a:rPr>
              <a:t>1599 </a:t>
            </a:r>
            <a:r>
              <a:rPr lang="en-US" sz="2000" dirty="0">
                <a:solidFill>
                  <a:srgbClr val="000000"/>
                </a:solidFill>
                <a:effectLst/>
                <a:latin typeface="Times New Roman" pitchFamily="18" charset="0"/>
                <a:ea typeface="Times New Roman" panose="02020603050405020304" pitchFamily="18" charset="0"/>
                <a:cs typeface="Times New Roman" pitchFamily="18" charset="0"/>
              </a:rPr>
              <a:t>samples were red wine and 4898 samples were white wine. </a:t>
            </a:r>
            <a:endParaRPr lang="en-US" sz="2000" dirty="0" smtClean="0">
              <a:solidFill>
                <a:srgbClr val="000000"/>
              </a:solidFill>
              <a:effectLst/>
              <a:latin typeface="Times New Roman" pitchFamily="18" charset="0"/>
              <a:ea typeface="Times New Roman" panose="02020603050405020304" pitchFamily="18" charset="0"/>
              <a:cs typeface="Times New Roman" pitchFamily="18" charset="0"/>
            </a:endParaRPr>
          </a:p>
          <a:p>
            <a:pPr algn="just"/>
            <a:r>
              <a:rPr lang="en-GB" sz="2000" dirty="0" smtClean="0">
                <a:latin typeface="Times New Roman" pitchFamily="18" charset="0"/>
                <a:cs typeface="Times New Roman" pitchFamily="18" charset="0"/>
              </a:rPr>
              <a:t>For </a:t>
            </a:r>
            <a:r>
              <a:rPr lang="en-GB" sz="2000" b="1" dirty="0" smtClean="0">
                <a:latin typeface="Times New Roman" pitchFamily="18" charset="0"/>
                <a:cs typeface="Times New Roman" pitchFamily="18" charset="0"/>
              </a:rPr>
              <a:t>exploratory data analysis </a:t>
            </a:r>
            <a:r>
              <a:rPr lang="en-GB" sz="2000" dirty="0" smtClean="0">
                <a:latin typeface="Times New Roman" pitchFamily="18" charset="0"/>
                <a:cs typeface="Times New Roman" pitchFamily="18" charset="0"/>
              </a:rPr>
              <a:t>I used descriptive statistics, correlations and </a:t>
            </a:r>
            <a:r>
              <a:rPr lang="en-GB" sz="2000" dirty="0" err="1" smtClean="0">
                <a:latin typeface="Times New Roman" pitchFamily="18" charset="0"/>
                <a:cs typeface="Times New Roman" pitchFamily="18" charset="0"/>
              </a:rPr>
              <a:t>Seaborn</a:t>
            </a:r>
            <a:r>
              <a:rPr lang="en-GB" sz="2000" dirty="0" smtClean="0">
                <a:latin typeface="Times New Roman" pitchFamily="18" charset="0"/>
                <a:cs typeface="Times New Roman" pitchFamily="18" charset="0"/>
              </a:rPr>
              <a:t> visualization.</a:t>
            </a:r>
          </a:p>
          <a:p>
            <a:pPr algn="just"/>
            <a:r>
              <a:rPr lang="en-GB" sz="2000" dirty="0" smtClean="0">
                <a:latin typeface="Times New Roman" pitchFamily="18" charset="0"/>
                <a:cs typeface="Times New Roman" pitchFamily="18" charset="0"/>
              </a:rPr>
              <a:t> </a:t>
            </a:r>
            <a:r>
              <a:rPr lang="en-GB" sz="2000" b="1" dirty="0" smtClean="0">
                <a:latin typeface="Times New Roman" pitchFamily="18" charset="0"/>
                <a:cs typeface="Times New Roman" pitchFamily="18" charset="0"/>
              </a:rPr>
              <a:t>Predicting wine type</a:t>
            </a:r>
            <a:r>
              <a:rPr lang="en-GB" sz="2000" dirty="0" smtClean="0">
                <a:latin typeface="Times New Roman" pitchFamily="18" charset="0"/>
                <a:cs typeface="Times New Roman" pitchFamily="18" charset="0"/>
              </a:rPr>
              <a:t>: this is a binary classification and I used Logistic Regression.</a:t>
            </a:r>
          </a:p>
          <a:p>
            <a:pPr algn="just"/>
            <a:r>
              <a:rPr lang="en-GB" sz="2000" dirty="0" smtClean="0">
                <a:latin typeface="Times New Roman" pitchFamily="18" charset="0"/>
                <a:cs typeface="Times New Roman" pitchFamily="18" charset="0"/>
              </a:rPr>
              <a:t>For </a:t>
            </a:r>
            <a:r>
              <a:rPr lang="en-GB" sz="2000" b="1" dirty="0" smtClean="0">
                <a:latin typeface="Times New Roman" pitchFamily="18" charset="0"/>
                <a:cs typeface="Times New Roman" pitchFamily="18" charset="0"/>
              </a:rPr>
              <a:t>predicting quality class of wines </a:t>
            </a:r>
            <a:r>
              <a:rPr lang="en-GB" sz="2000" dirty="0" smtClean="0">
                <a:latin typeface="Times New Roman" pitchFamily="18" charset="0"/>
                <a:cs typeface="Times New Roman" pitchFamily="18" charset="0"/>
              </a:rPr>
              <a:t>I used Decision Tree Classifier, Random Forest Classifier and Support Vector Machine Classifier</a:t>
            </a:r>
          </a:p>
          <a:p>
            <a:pPr algn="just"/>
            <a:r>
              <a:rPr lang="en-GB" sz="2000" dirty="0" smtClean="0">
                <a:latin typeface="Times New Roman" pitchFamily="18" charset="0"/>
                <a:cs typeface="Times New Roman" pitchFamily="18" charset="0"/>
              </a:rPr>
              <a:t>To evaluate classification results I used </a:t>
            </a:r>
            <a:r>
              <a:rPr lang="en-GB" sz="2000" dirty="0" err="1" smtClean="0">
                <a:latin typeface="Times New Roman" pitchFamily="18" charset="0"/>
                <a:cs typeface="Times New Roman" pitchFamily="18" charset="0"/>
              </a:rPr>
              <a:t>heatmap</a:t>
            </a:r>
            <a:r>
              <a:rPr lang="en-GB" sz="2000" dirty="0" smtClean="0">
                <a:latin typeface="Times New Roman" pitchFamily="18" charset="0"/>
                <a:cs typeface="Times New Roman" pitchFamily="18" charset="0"/>
              </a:rPr>
              <a:t> of confusion matrix. I had to perform normalization by class support size to have a more visual interpretation of which class is being misclassified. </a:t>
            </a:r>
            <a:endParaRPr lang="en-IN" sz="2000" dirty="0">
              <a:effectLst/>
              <a:latin typeface="Times New Roman" pitchFamily="18" charset="0"/>
              <a:ea typeface="Times New Roman" panose="02020603050405020304" pitchFamily="18" charset="0"/>
              <a:cs typeface="Times New Roman" pitchFamily="18" charset="0"/>
            </a:endParaRPr>
          </a:p>
          <a:p>
            <a:pPr algn="just">
              <a:buNone/>
            </a:pPr>
            <a:endParaRPr lang="en-US" sz="2000" dirty="0">
              <a:latin typeface="Times New Roman" pitchFamily="18" charset="0"/>
              <a:cs typeface="Times New Roman" pitchFamily="18" charset="0"/>
            </a:endParaRPr>
          </a:p>
        </p:txBody>
      </p:sp>
      <p:sp>
        <p:nvSpPr>
          <p:cNvPr id="1048674" name="Slide Number Placeholder 5"/>
          <p:cNvSpPr>
            <a:spLocks noGrp="1"/>
          </p:cNvSpPr>
          <p:nvPr>
            <p:ph type="sldNum" sz="quarter" idx="12"/>
          </p:nvPr>
        </p:nvSpPr>
        <p:spPr/>
        <p:txBody>
          <a:bodyPr/>
          <a:lstStyle/>
          <a:p>
            <a:fld id="{96B9CE5D-B6B3-477C-B60B-1D633FD34024}"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96B9CE5D-B6B3-477C-B60B-1D633FD34024}" type="slidenum">
              <a:rPr lang="en-US" smtClean="0"/>
              <a:pPr/>
              <a:t>17</a:t>
            </a:fld>
            <a:endParaRPr lang="en-US"/>
          </a:p>
        </p:txBody>
      </p:sp>
      <p:sp>
        <p:nvSpPr>
          <p:cNvPr id="5" name="TextBox 4"/>
          <p:cNvSpPr txBox="1"/>
          <p:nvPr/>
        </p:nvSpPr>
        <p:spPr>
          <a:xfrm>
            <a:off x="533400" y="381000"/>
            <a:ext cx="8001000" cy="923330"/>
          </a:xfrm>
          <a:prstGeom prst="rect">
            <a:avLst/>
          </a:prstGeom>
          <a:noFill/>
        </p:spPr>
        <p:txBody>
          <a:bodyPr wrap="square" rtlCol="0">
            <a:spAutoFit/>
          </a:bodyPr>
          <a:lstStyle/>
          <a:p>
            <a:r>
              <a:rPr lang="en-IN" b="1" dirty="0" smtClean="0">
                <a:latin typeface="Times New Roman" pitchFamily="18" charset="0"/>
                <a:cs typeface="Times New Roman" pitchFamily="18" charset="0"/>
              </a:rPr>
              <a:t>Exploratory Data Analysis</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Descriptive Statistics</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381000" y="1371600"/>
            <a:ext cx="8493259" cy="2743200"/>
          </a:xfrm>
          <a:prstGeom prst="rect">
            <a:avLst/>
          </a:prstGeom>
          <a:noFill/>
          <a:ln w="9525">
            <a:noFill/>
            <a:miter lim="800000"/>
            <a:headEnd/>
            <a:tailEnd/>
          </a:ln>
        </p:spPr>
      </p:pic>
      <p:sp>
        <p:nvSpPr>
          <p:cNvPr id="9" name="TextBox 8"/>
          <p:cNvSpPr txBox="1"/>
          <p:nvPr/>
        </p:nvSpPr>
        <p:spPr>
          <a:xfrm>
            <a:off x="304800" y="3995678"/>
            <a:ext cx="8592661" cy="2862322"/>
          </a:xfrm>
          <a:prstGeom prst="rect">
            <a:avLst/>
          </a:prstGeom>
          <a:noFill/>
        </p:spPr>
        <p:txBody>
          <a:bodyPr wrap="square" rtlCol="0">
            <a:spAutoFit/>
          </a:bodyPr>
          <a:lstStyle/>
          <a:p>
            <a:pPr algn="just"/>
            <a:r>
              <a:rPr lang="en-GB" sz="2000" dirty="0" smtClean="0">
                <a:latin typeface="Times New Roman" pitchFamily="18" charset="0"/>
                <a:cs typeface="Times New Roman" pitchFamily="18" charset="0"/>
              </a:rPr>
              <a:t>The highlights from descriptive statistics of wine types:</a:t>
            </a:r>
          </a:p>
          <a:p>
            <a:pPr algn="just"/>
            <a:r>
              <a:rPr lang="en-GB" sz="2000" dirty="0" smtClean="0">
                <a:latin typeface="Times New Roman" pitchFamily="18" charset="0"/>
                <a:cs typeface="Times New Roman" pitchFamily="18" charset="0"/>
              </a:rPr>
              <a:t>● Mean total </a:t>
            </a:r>
            <a:r>
              <a:rPr lang="en-GB" sz="2000" dirty="0" err="1" smtClean="0">
                <a:latin typeface="Times New Roman" pitchFamily="18" charset="0"/>
                <a:cs typeface="Times New Roman" pitchFamily="18" charset="0"/>
              </a:rPr>
              <a:t>sulfur</a:t>
            </a:r>
            <a:r>
              <a:rPr lang="en-GB" sz="2000" dirty="0" smtClean="0">
                <a:latin typeface="Times New Roman" pitchFamily="18" charset="0"/>
                <a:cs typeface="Times New Roman" pitchFamily="18" charset="0"/>
              </a:rPr>
              <a:t> dioxide and residual sugar content seems to be much higher in white</a:t>
            </a:r>
          </a:p>
          <a:p>
            <a:pPr algn="just"/>
            <a:r>
              <a:rPr lang="en-GB" sz="2000" dirty="0" smtClean="0">
                <a:latin typeface="Times New Roman" pitchFamily="18" charset="0"/>
                <a:cs typeface="Times New Roman" pitchFamily="18" charset="0"/>
              </a:rPr>
              <a:t>wines that in red wines</a:t>
            </a:r>
          </a:p>
          <a:p>
            <a:pPr algn="just"/>
            <a:r>
              <a:rPr lang="en-GB" sz="2000" dirty="0" smtClean="0">
                <a:latin typeface="Times New Roman" pitchFamily="18" charset="0"/>
                <a:cs typeface="Times New Roman" pitchFamily="18" charset="0"/>
              </a:rPr>
              <a:t>● Citric acid is more present in white wines, while fixed acidity, volatile acidity and sulphates</a:t>
            </a:r>
          </a:p>
          <a:p>
            <a:pPr algn="just"/>
            <a:r>
              <a:rPr lang="en-GB" sz="2000" dirty="0" smtClean="0">
                <a:latin typeface="Times New Roman" pitchFamily="18" charset="0"/>
                <a:cs typeface="Times New Roman" pitchFamily="18" charset="0"/>
              </a:rPr>
              <a:t>are more present in red wine</a:t>
            </a:r>
          </a:p>
          <a:p>
            <a:pPr algn="just"/>
            <a:r>
              <a:rPr lang="en-GB" sz="2000" dirty="0" smtClean="0">
                <a:latin typeface="Times New Roman" pitchFamily="18" charset="0"/>
                <a:cs typeface="Times New Roman" pitchFamily="18" charset="0"/>
              </a:rPr>
              <a:t>● Red wines have double concentration of chlorides then white wines. </a:t>
            </a:r>
            <a:br>
              <a:rPr lang="en-GB"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274638"/>
          </a:xfrm>
        </p:spPr>
        <p:txBody>
          <a:bodyPr>
            <a:normAutofit fontScale="90000"/>
          </a:bodyPr>
          <a:lstStyle/>
          <a:p>
            <a:endParaRPr lang="en-US" dirty="0"/>
          </a:p>
        </p:txBody>
      </p:sp>
      <p:sp>
        <p:nvSpPr>
          <p:cNvPr id="6" name="Slide Number Placeholder 5"/>
          <p:cNvSpPr>
            <a:spLocks noGrp="1"/>
          </p:cNvSpPr>
          <p:nvPr>
            <p:ph type="sldNum" sz="quarter" idx="12"/>
          </p:nvPr>
        </p:nvSpPr>
        <p:spPr/>
        <p:txBody>
          <a:bodyPr/>
          <a:lstStyle/>
          <a:p>
            <a:fld id="{96B9CE5D-B6B3-477C-B60B-1D633FD34024}" type="slidenum">
              <a:rPr lang="en-US" smtClean="0"/>
              <a:pPr/>
              <a:t>18</a:t>
            </a:fld>
            <a:endParaRPr lang="en-US"/>
          </a:p>
        </p:txBody>
      </p:sp>
      <p:pic>
        <p:nvPicPr>
          <p:cNvPr id="3075" name="Picture 3"/>
          <p:cNvPicPr>
            <a:picLocks noGrp="1" noChangeAspect="1" noChangeArrowheads="1"/>
          </p:cNvPicPr>
          <p:nvPr>
            <p:ph idx="1"/>
          </p:nvPr>
        </p:nvPicPr>
        <p:blipFill>
          <a:blip r:embed="rId2" cstate="print"/>
          <a:srcRect/>
          <a:stretch>
            <a:fillRect/>
          </a:stretch>
        </p:blipFill>
        <p:spPr bwMode="auto">
          <a:xfrm>
            <a:off x="990600" y="990600"/>
            <a:ext cx="7443147" cy="5334000"/>
          </a:xfrm>
          <a:prstGeom prst="rect">
            <a:avLst/>
          </a:prstGeom>
          <a:noFill/>
          <a:ln w="9525">
            <a:noFill/>
            <a:miter lim="800000"/>
            <a:headEnd/>
            <a:tailEnd/>
          </a:ln>
        </p:spPr>
      </p:pic>
      <p:sp>
        <p:nvSpPr>
          <p:cNvPr id="9" name="TextBox 8"/>
          <p:cNvSpPr txBox="1"/>
          <p:nvPr/>
        </p:nvSpPr>
        <p:spPr>
          <a:xfrm>
            <a:off x="838200" y="533400"/>
            <a:ext cx="2787943" cy="461665"/>
          </a:xfrm>
          <a:prstGeom prst="rect">
            <a:avLst/>
          </a:prstGeom>
          <a:noFill/>
        </p:spPr>
        <p:txBody>
          <a:bodyPr wrap="none" rtlCol="0">
            <a:spAutoFit/>
          </a:bodyPr>
          <a:lstStyle/>
          <a:p>
            <a:r>
              <a:rPr lang="en-IN" sz="2400" dirty="0" smtClean="0">
                <a:latin typeface="Times New Roman" pitchFamily="18" charset="0"/>
                <a:cs typeface="Times New Roman" pitchFamily="18" charset="0"/>
              </a:rPr>
              <a:t>Descriptive Statistics</a:t>
            </a:r>
            <a:endParaRPr lang="en-US"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11162"/>
          </a:xfrm>
        </p:spPr>
        <p:txBody>
          <a:bodyPr>
            <a:noAutofit/>
          </a:bodyPr>
          <a:lstStyle/>
          <a:p>
            <a:pPr algn="l"/>
            <a:r>
              <a:rPr lang="en-IN" sz="2800" dirty="0" smtClean="0">
                <a:latin typeface="Times New Roman" pitchFamily="18" charset="0"/>
                <a:cs typeface="Times New Roman" pitchFamily="18" charset="0"/>
              </a:rPr>
              <a:t>Correlations</a:t>
            </a:r>
            <a:endParaRPr lang="en-US" sz="28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19</a:t>
            </a:fld>
            <a:endParaRPr lang="en-US"/>
          </a:p>
        </p:txBody>
      </p:sp>
      <p:pic>
        <p:nvPicPr>
          <p:cNvPr id="4098" name="Picture 2"/>
          <p:cNvPicPr>
            <a:picLocks noGrp="1" noChangeAspect="1" noChangeArrowheads="1"/>
          </p:cNvPicPr>
          <p:nvPr>
            <p:ph idx="1"/>
          </p:nvPr>
        </p:nvPicPr>
        <p:blipFill>
          <a:blip r:embed="rId2" cstate="print"/>
          <a:srcRect t="8418" r="13948" b="2350"/>
          <a:stretch>
            <a:fillRect/>
          </a:stretch>
        </p:blipFill>
        <p:spPr bwMode="auto">
          <a:xfrm>
            <a:off x="1295400" y="609600"/>
            <a:ext cx="6433868" cy="56832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pPr algn="l"/>
            <a:r>
              <a:rPr lang="en-IN" sz="2400" dirty="0" smtClean="0">
                <a:latin typeface="Times New Roman" pitchFamily="18" charset="0"/>
                <a:cs typeface="Times New Roman" pitchFamily="18" charset="0"/>
              </a:rPr>
              <a:t>Alcohol-Quality-Type</a:t>
            </a:r>
            <a:endParaRPr lang="en-US"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20</a:t>
            </a:fld>
            <a:endParaRPr lang="en-US"/>
          </a:p>
        </p:txBody>
      </p:sp>
      <p:pic>
        <p:nvPicPr>
          <p:cNvPr id="5122" name="Picture 2"/>
          <p:cNvPicPr>
            <a:picLocks noGrp="1" noChangeAspect="1" noChangeArrowheads="1"/>
          </p:cNvPicPr>
          <p:nvPr>
            <p:ph idx="1"/>
          </p:nvPr>
        </p:nvPicPr>
        <p:blipFill>
          <a:blip r:embed="rId2" cstate="print"/>
          <a:srcRect/>
          <a:stretch>
            <a:fillRect/>
          </a:stretch>
        </p:blipFill>
        <p:spPr bwMode="auto">
          <a:xfrm>
            <a:off x="0" y="1143000"/>
            <a:ext cx="9372600" cy="3124200"/>
          </a:xfrm>
          <a:prstGeom prst="rect">
            <a:avLst/>
          </a:prstGeom>
          <a:noFill/>
          <a:ln w="9525">
            <a:noFill/>
            <a:miter lim="800000"/>
            <a:headEnd/>
            <a:tailEnd/>
          </a:ln>
        </p:spPr>
      </p:pic>
      <p:sp>
        <p:nvSpPr>
          <p:cNvPr id="8" name="TextBox 7"/>
          <p:cNvSpPr txBox="1"/>
          <p:nvPr/>
        </p:nvSpPr>
        <p:spPr>
          <a:xfrm>
            <a:off x="533400" y="4495800"/>
            <a:ext cx="8153400" cy="1323439"/>
          </a:xfrm>
          <a:prstGeom prst="rect">
            <a:avLst/>
          </a:prstGeom>
          <a:noFill/>
        </p:spPr>
        <p:txBody>
          <a:bodyPr wrap="square" rtlCol="0">
            <a:spAutoFit/>
          </a:bodyPr>
          <a:lstStyle/>
          <a:p>
            <a:pPr algn="just">
              <a:buFont typeface="Arial" pitchFamily="34" charset="0"/>
              <a:buChar char="•"/>
            </a:pPr>
            <a:r>
              <a:rPr lang="en-GB" sz="2000" dirty="0" smtClean="0">
                <a:latin typeface="Times New Roman" pitchFamily="18" charset="0"/>
                <a:cs typeface="Times New Roman" pitchFamily="18" charset="0"/>
              </a:rPr>
              <a:t>This plot confirms what was stated before: alcohol concentration increases with the quality of wines.</a:t>
            </a:r>
          </a:p>
          <a:p>
            <a:pPr algn="just">
              <a:buFont typeface="Arial" pitchFamily="34" charset="0"/>
              <a:buChar char="•"/>
            </a:pPr>
            <a:r>
              <a:rPr lang="en-GB" sz="2000" dirty="0" smtClean="0">
                <a:latin typeface="Times New Roman" pitchFamily="18" charset="0"/>
                <a:cs typeface="Times New Roman" pitchFamily="18" charset="0"/>
              </a:rPr>
              <a:t>There is no big difference in alcohol concentration between red and white wines in the same quality class.</a:t>
            </a:r>
            <a:endParaRPr lang="en-US" sz="20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dirty="0" smtClean="0">
                <a:latin typeface="Times New Roman" pitchFamily="18" charset="0"/>
                <a:cs typeface="Times New Roman" pitchFamily="18" charset="0"/>
              </a:rPr>
              <a:t>Volatile Acidity - Quality - Type </a:t>
            </a:r>
            <a:endParaRPr lang="en-US"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21</a:t>
            </a:fld>
            <a:endParaRPr lang="en-US"/>
          </a:p>
        </p:txBody>
      </p:sp>
      <p:pic>
        <p:nvPicPr>
          <p:cNvPr id="6146" name="Picture 2"/>
          <p:cNvPicPr>
            <a:picLocks noGrp="1" noChangeAspect="1" noChangeArrowheads="1"/>
          </p:cNvPicPr>
          <p:nvPr>
            <p:ph idx="1"/>
          </p:nvPr>
        </p:nvPicPr>
        <p:blipFill>
          <a:blip r:embed="rId2" cstate="print"/>
          <a:srcRect/>
          <a:stretch>
            <a:fillRect/>
          </a:stretch>
        </p:blipFill>
        <p:spPr bwMode="auto">
          <a:xfrm>
            <a:off x="-228599" y="1371601"/>
            <a:ext cx="9372599" cy="3124200"/>
          </a:xfrm>
          <a:prstGeom prst="rect">
            <a:avLst/>
          </a:prstGeom>
          <a:noFill/>
          <a:ln w="9525">
            <a:noFill/>
            <a:miter lim="800000"/>
            <a:headEnd/>
            <a:tailEnd/>
          </a:ln>
        </p:spPr>
      </p:pic>
      <p:sp>
        <p:nvSpPr>
          <p:cNvPr id="8" name="TextBox 7"/>
          <p:cNvSpPr txBox="1"/>
          <p:nvPr/>
        </p:nvSpPr>
        <p:spPr>
          <a:xfrm>
            <a:off x="1143000" y="4724400"/>
            <a:ext cx="7162800" cy="1200329"/>
          </a:xfrm>
          <a:prstGeom prst="rect">
            <a:avLst/>
          </a:prstGeom>
          <a:noFill/>
        </p:spPr>
        <p:txBody>
          <a:bodyPr wrap="square" rtlCol="0">
            <a:spAutoFit/>
          </a:bodyPr>
          <a:lstStyle/>
          <a:p>
            <a:pPr>
              <a:buFont typeface="Arial" pitchFamily="34" charset="0"/>
              <a:buChar char="•"/>
            </a:pPr>
            <a:r>
              <a:rPr lang="en-GB" sz="2400" dirty="0" smtClean="0">
                <a:latin typeface="Times New Roman" pitchFamily="18" charset="0"/>
                <a:cs typeface="Times New Roman" pitchFamily="18" charset="0"/>
              </a:rPr>
              <a:t>Volatile acidity is more present in red wines than in white wines.</a:t>
            </a:r>
          </a:p>
          <a:p>
            <a:pPr>
              <a:buFont typeface="Arial" pitchFamily="34" charset="0"/>
              <a:buChar char="•"/>
            </a:pPr>
            <a:r>
              <a:rPr lang="en-GB" sz="2400" dirty="0" smtClean="0">
                <a:latin typeface="Times New Roman" pitchFamily="18" charset="0"/>
                <a:cs typeface="Times New Roman" pitchFamily="18" charset="0"/>
              </a:rPr>
              <a:t> Higher quality wines have less volatile acidity.</a:t>
            </a:r>
            <a:endParaRPr lang="en-US"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smtClean="0">
                <a:latin typeface="Times New Roman" pitchFamily="18" charset="0"/>
                <a:cs typeface="Times New Roman" pitchFamily="18" charset="0"/>
              </a:rPr>
              <a:t>Density - Alcohol </a:t>
            </a:r>
            <a:endParaRPr lang="en-US" sz="28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22</a:t>
            </a:fld>
            <a:endParaRPr lang="en-US"/>
          </a:p>
        </p:txBody>
      </p:sp>
      <p:pic>
        <p:nvPicPr>
          <p:cNvPr id="7170" name="Picture 2"/>
          <p:cNvPicPr>
            <a:picLocks noGrp="1" noChangeAspect="1" noChangeArrowheads="1"/>
          </p:cNvPicPr>
          <p:nvPr>
            <p:ph idx="1"/>
          </p:nvPr>
        </p:nvPicPr>
        <p:blipFill>
          <a:blip r:embed="rId2" cstate="print"/>
          <a:srcRect/>
          <a:stretch>
            <a:fillRect/>
          </a:stretch>
        </p:blipFill>
        <p:spPr bwMode="auto">
          <a:xfrm>
            <a:off x="228600" y="1143000"/>
            <a:ext cx="8610600" cy="3807917"/>
          </a:xfrm>
          <a:prstGeom prst="rect">
            <a:avLst/>
          </a:prstGeom>
          <a:noFill/>
          <a:ln w="9525">
            <a:noFill/>
            <a:miter lim="800000"/>
            <a:headEnd/>
            <a:tailEnd/>
          </a:ln>
        </p:spPr>
      </p:pic>
      <p:sp>
        <p:nvSpPr>
          <p:cNvPr id="8" name="TextBox 7"/>
          <p:cNvSpPr txBox="1"/>
          <p:nvPr/>
        </p:nvSpPr>
        <p:spPr>
          <a:xfrm>
            <a:off x="457200" y="5181600"/>
            <a:ext cx="8153400" cy="1107996"/>
          </a:xfrm>
          <a:prstGeom prst="rect">
            <a:avLst/>
          </a:prstGeom>
          <a:noFill/>
        </p:spPr>
        <p:txBody>
          <a:bodyPr wrap="square" rtlCol="0">
            <a:spAutoFit/>
          </a:bodyPr>
          <a:lstStyle/>
          <a:p>
            <a:r>
              <a:rPr lang="en-GB" sz="2200" dirty="0" smtClean="0">
                <a:latin typeface="Times New Roman" pitchFamily="18" charset="0"/>
                <a:cs typeface="Times New Roman" pitchFamily="18" charset="0"/>
              </a:rPr>
              <a:t>This plot confirms correlations results: density has a relatively high negative correlation to alcohol (linear trend is decreasing from left to right). </a:t>
            </a:r>
            <a:endParaRPr lang="en-US" sz="22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dirty="0" smtClean="0">
                <a:latin typeface="Times New Roman" pitchFamily="18" charset="0"/>
                <a:cs typeface="Times New Roman" pitchFamily="18" charset="0"/>
              </a:rPr>
              <a:t>Residual Sugar - Total Sulfur Dioxide - Type </a:t>
            </a:r>
            <a:br>
              <a:rPr lang="en-US" sz="2400" dirty="0" smtClean="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23</a:t>
            </a:fld>
            <a:endParaRPr lang="en-US"/>
          </a:p>
        </p:txBody>
      </p:sp>
      <p:pic>
        <p:nvPicPr>
          <p:cNvPr id="8194" name="Picture 2"/>
          <p:cNvPicPr>
            <a:picLocks noGrp="1" noChangeAspect="1" noChangeArrowheads="1"/>
          </p:cNvPicPr>
          <p:nvPr>
            <p:ph idx="1"/>
          </p:nvPr>
        </p:nvPicPr>
        <p:blipFill>
          <a:blip r:embed="rId2" cstate="print"/>
          <a:srcRect/>
          <a:stretch>
            <a:fillRect/>
          </a:stretch>
        </p:blipFill>
        <p:spPr bwMode="auto">
          <a:xfrm>
            <a:off x="2057400" y="1066800"/>
            <a:ext cx="4800600" cy="4138047"/>
          </a:xfrm>
          <a:prstGeom prst="rect">
            <a:avLst/>
          </a:prstGeom>
          <a:noFill/>
          <a:ln w="9525">
            <a:noFill/>
            <a:miter lim="800000"/>
            <a:headEnd/>
            <a:tailEnd/>
          </a:ln>
        </p:spPr>
      </p:pic>
      <p:sp>
        <p:nvSpPr>
          <p:cNvPr id="8" name="TextBox 7"/>
          <p:cNvSpPr txBox="1"/>
          <p:nvPr/>
        </p:nvSpPr>
        <p:spPr>
          <a:xfrm>
            <a:off x="304800" y="5181600"/>
            <a:ext cx="8458200" cy="1371600"/>
          </a:xfrm>
          <a:prstGeom prst="rect">
            <a:avLst/>
          </a:prstGeom>
          <a:noFill/>
        </p:spPr>
        <p:txBody>
          <a:bodyPr wrap="square" rtlCol="0">
            <a:spAutoFit/>
          </a:bodyPr>
          <a:lstStyle/>
          <a:p>
            <a:pPr algn="just">
              <a:buFont typeface="Arial" pitchFamily="34" charset="0"/>
              <a:buChar char="•"/>
            </a:pPr>
            <a:r>
              <a:rPr lang="en-GB" sz="2000" dirty="0" smtClean="0">
                <a:latin typeface="Times New Roman" pitchFamily="18" charset="0"/>
                <a:cs typeface="Times New Roman" pitchFamily="18" charset="0"/>
              </a:rPr>
              <a:t>The plot confirms previously stated results: total </a:t>
            </a:r>
            <a:r>
              <a:rPr lang="en-GB" sz="2000" dirty="0" err="1" smtClean="0">
                <a:latin typeface="Times New Roman" pitchFamily="18" charset="0"/>
                <a:cs typeface="Times New Roman" pitchFamily="18" charset="0"/>
              </a:rPr>
              <a:t>sulfur</a:t>
            </a:r>
            <a:r>
              <a:rPr lang="en-GB" sz="2000" dirty="0" smtClean="0">
                <a:latin typeface="Times New Roman" pitchFamily="18" charset="0"/>
                <a:cs typeface="Times New Roman" pitchFamily="18" charset="0"/>
              </a:rPr>
              <a:t> dioxide and residual sugar content seems to be much higher in white wines than in red wines.</a:t>
            </a:r>
          </a:p>
          <a:p>
            <a:pPr algn="just">
              <a:buFont typeface="Arial" pitchFamily="34" charset="0"/>
              <a:buChar char="•"/>
            </a:pPr>
            <a:r>
              <a:rPr lang="en-GB" sz="2000" dirty="0" smtClean="0">
                <a:latin typeface="Times New Roman" pitchFamily="18" charset="0"/>
                <a:cs typeface="Times New Roman" pitchFamily="18" charset="0"/>
              </a:rPr>
              <a:t> The residual sugar has 0.50 correlation with total </a:t>
            </a:r>
            <a:r>
              <a:rPr lang="en-GB" sz="2000" dirty="0" err="1" smtClean="0">
                <a:latin typeface="Times New Roman" pitchFamily="18" charset="0"/>
                <a:cs typeface="Times New Roman" pitchFamily="18" charset="0"/>
              </a:rPr>
              <a:t>sulfur</a:t>
            </a:r>
            <a:r>
              <a:rPr lang="en-GB" sz="2000" dirty="0" smtClean="0">
                <a:latin typeface="Times New Roman" pitchFamily="18" charset="0"/>
                <a:cs typeface="Times New Roman" pitchFamily="18" charset="0"/>
              </a:rPr>
              <a:t> dioxide. This is an indication that more </a:t>
            </a:r>
            <a:r>
              <a:rPr lang="en-GB" sz="2000" dirty="0" err="1" smtClean="0">
                <a:latin typeface="Times New Roman" pitchFamily="18" charset="0"/>
                <a:cs typeface="Times New Roman" pitchFamily="18" charset="0"/>
              </a:rPr>
              <a:t>sulfur</a:t>
            </a:r>
            <a:r>
              <a:rPr lang="en-GB" sz="2000" dirty="0" smtClean="0">
                <a:latin typeface="Times New Roman" pitchFamily="18" charset="0"/>
                <a:cs typeface="Times New Roman" pitchFamily="18" charset="0"/>
              </a:rPr>
              <a:t> dioxide is added to wines with higher sugar. </a:t>
            </a:r>
            <a:endParaRPr lang="en-US" sz="20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Slide Number Placeholder 5"/>
          <p:cNvSpPr>
            <a:spLocks noGrp="1"/>
          </p:cNvSpPr>
          <p:nvPr>
            <p:ph type="sldNum" sz="quarter" idx="12"/>
          </p:nvPr>
        </p:nvSpPr>
        <p:spPr/>
        <p:txBody>
          <a:bodyPr/>
          <a:lstStyle/>
          <a:p>
            <a:fld id="{96B9CE5D-B6B3-477C-B60B-1D633FD34024}" type="slidenum">
              <a:rPr lang="en-US" smtClean="0"/>
              <a:pPr/>
              <a:t>24</a:t>
            </a:fld>
            <a:endParaRPr lang="en-US" dirty="0"/>
          </a:p>
        </p:txBody>
      </p:sp>
      <p:sp>
        <p:nvSpPr>
          <p:cNvPr id="1048683" name="Content Placeholder 2"/>
          <p:cNvSpPr>
            <a:spLocks noGrp="1"/>
          </p:cNvSpPr>
          <p:nvPr>
            <p:ph idx="4294967295"/>
          </p:nvPr>
        </p:nvSpPr>
        <p:spPr>
          <a:xfrm>
            <a:off x="457200" y="1143000"/>
            <a:ext cx="8458200" cy="5105400"/>
          </a:xfrm>
        </p:spPr>
        <p:txBody>
          <a:bodyPr>
            <a:normAutofit fontScale="94881"/>
          </a:bodyPr>
          <a:lstStyle/>
          <a:p>
            <a:pPr>
              <a:buNone/>
            </a:pPr>
            <a:r>
              <a:rPr lang="en-US" sz="2000" b="1" spc="-50" dirty="0">
                <a:effectLst/>
                <a:latin typeface="Times New Roman" panose="02020603050405020304" pitchFamily="18" charset="0"/>
                <a:ea typeface="Times New Roman" panose="02020603050405020304" pitchFamily="18" charset="0"/>
              </a:rPr>
              <a:t> Classification through Machine Learning </a:t>
            </a:r>
          </a:p>
          <a:p>
            <a:pPr>
              <a:buNone/>
            </a:pPr>
            <a:endParaRPr lang="en-US" sz="2000" b="1" spc="-50" dirty="0">
              <a:latin typeface="Times New Roman" panose="02020603050405020304" pitchFamily="18" charset="0"/>
              <a:ea typeface="Times New Roman" panose="02020603050405020304" pitchFamily="18" charset="0"/>
            </a:endParaRPr>
          </a:p>
          <a:p>
            <a:pPr>
              <a:buNone/>
            </a:pPr>
            <a:endParaRPr lang="en-US" sz="2000" b="1" spc="-50" dirty="0">
              <a:effectLst/>
              <a:latin typeface="Times New Roman" panose="02020603050405020304" pitchFamily="18" charset="0"/>
              <a:ea typeface="Times New Roman" panose="02020603050405020304" pitchFamily="18" charset="0"/>
            </a:endParaRPr>
          </a:p>
          <a:p>
            <a:pPr marL="107315" indent="0">
              <a:buNone/>
            </a:pPr>
            <a:r>
              <a:rPr lang="en-IN" sz="2000" spc="-25" dirty="0">
                <a:solidFill>
                  <a:srgbClr val="000000"/>
                </a:solidFill>
                <a:effectLst/>
                <a:latin typeface="Times New Roman" panose="02020603050405020304" pitchFamily="18" charset="0"/>
                <a:ea typeface="Times New Roman" panose="02020603050405020304" pitchFamily="18" charset="0"/>
              </a:rPr>
              <a:t>        Ma</a:t>
            </a:r>
            <a:r>
              <a:rPr lang="en-IN" sz="2000" dirty="0">
                <a:solidFill>
                  <a:srgbClr val="000000"/>
                </a:solidFill>
                <a:effectLst/>
                <a:latin typeface="Times New Roman" panose="02020603050405020304" pitchFamily="18" charset="0"/>
                <a:ea typeface="Times New Roman" panose="02020603050405020304" pitchFamily="18" charset="0"/>
              </a:rPr>
              <a:t>chine learning classification </a:t>
            </a:r>
            <a:r>
              <a:rPr lang="en-IN" sz="2000" spc="25" dirty="0">
                <a:solidFill>
                  <a:srgbClr val="000000"/>
                </a:solidFill>
                <a:effectLst/>
                <a:latin typeface="Times New Roman" panose="02020603050405020304" pitchFamily="18" charset="0"/>
                <a:ea typeface="Times New Roman" panose="02020603050405020304" pitchFamily="18" charset="0"/>
              </a:rPr>
              <a:t>is</a:t>
            </a:r>
            <a:r>
              <a:rPr lang="en-IN" sz="2000" dirty="0">
                <a:solidFill>
                  <a:srgbClr val="000000"/>
                </a:solidFill>
                <a:effectLst/>
                <a:latin typeface="Times New Roman" panose="02020603050405020304" pitchFamily="18" charset="0"/>
                <a:ea typeface="Times New Roman" panose="02020603050405020304" pitchFamily="18" charset="0"/>
              </a:rPr>
              <a:t> shown below: - </a:t>
            </a:r>
            <a:endParaRPr lang="en-IN" sz="2000" spc="-50" dirty="0">
              <a:effectLst/>
              <a:latin typeface="Times New Roman" panose="02020603050405020304" pitchFamily="18" charset="0"/>
              <a:ea typeface="Times New Roman" panose="02020603050405020304" pitchFamily="18" charset="0"/>
            </a:endParaRPr>
          </a:p>
          <a:p>
            <a:pPr>
              <a:buNone/>
            </a:pPr>
            <a:endParaRPr lang="en-IN" sz="2000" dirty="0"/>
          </a:p>
        </p:txBody>
      </p:sp>
      <p:pic>
        <p:nvPicPr>
          <p:cNvPr id="6" name="Picture 5">
            <a:extLst>
              <a:ext uri="{FF2B5EF4-FFF2-40B4-BE49-F238E27FC236}">
                <a16:creationId xmlns="" xmlns:a16="http://schemas.microsoft.com/office/drawing/2014/main" id="{799FFDAA-F189-402D-AA1E-2FC52737E0A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2667000"/>
            <a:ext cx="4368800" cy="317881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Title 1"/>
          <p:cNvSpPr>
            <a:spLocks noGrp="1"/>
          </p:cNvSpPr>
          <p:nvPr>
            <p:ph type="title"/>
          </p:nvPr>
        </p:nvSpPr>
        <p:spPr>
          <a:xfrm>
            <a:off x="381000" y="274638"/>
            <a:ext cx="8305800" cy="182562"/>
          </a:xfrm>
        </p:spPr>
        <p:txBody>
          <a:bodyPr>
            <a:normAutofit fontScale="90000"/>
          </a:bodyPr>
          <a:lstStyle/>
          <a:p>
            <a:endParaRPr lang="en-US" dirty="0"/>
          </a:p>
        </p:txBody>
      </p:sp>
      <p:sp>
        <p:nvSpPr>
          <p:cNvPr id="1048709" name="Content Placeholder 2"/>
          <p:cNvSpPr>
            <a:spLocks noGrp="1"/>
          </p:cNvSpPr>
          <p:nvPr>
            <p:ph idx="1"/>
          </p:nvPr>
        </p:nvSpPr>
        <p:spPr>
          <a:xfrm>
            <a:off x="152400" y="533400"/>
            <a:ext cx="8763000" cy="5867400"/>
          </a:xfrm>
        </p:spPr>
        <p:txBody>
          <a:bodyPr>
            <a:normAutofit fontScale="95652" lnSpcReduction="10000"/>
          </a:bodyPr>
          <a:lstStyle/>
          <a:p>
            <a:pPr algn="just">
              <a:buNone/>
            </a:pPr>
            <a:endParaRPr lang="en-US" sz="2400" b="1" dirty="0"/>
          </a:p>
          <a:p>
            <a:pPr algn="just"/>
            <a:r>
              <a:rPr lang="en-US" sz="2300" dirty="0"/>
              <a:t>The classification are applied on these Data in order to categorize them. This step is classifies tweets which may belong to any of the three categories mentioned. </a:t>
            </a:r>
          </a:p>
          <a:p>
            <a:pPr algn="just"/>
            <a:r>
              <a:rPr lang="en-GB" sz="2300" dirty="0"/>
              <a:t> The pre-processed tweets are stored in a csv file and used as a training set for further tweets classification. In this </a:t>
            </a:r>
            <a:r>
              <a:rPr lang="en-GB" sz="2300" dirty="0" err="1"/>
              <a:t>work,classifiers</a:t>
            </a:r>
            <a:r>
              <a:rPr lang="en-GB" sz="2300" dirty="0"/>
              <a:t> are considered such as Random Forest (RF) classifier,  Support Vector Machine(SVM) classifier Naive Bayes classifier and Logistic Regression in Algorithms, where it has many sub classes. </a:t>
            </a:r>
          </a:p>
          <a:p>
            <a:pPr algn="just"/>
            <a:r>
              <a:rPr lang="en-GB" sz="2300" dirty="0"/>
              <a:t>We have considered only 100 estimators but it can be used for n number of estimators. Later, predicting class is given as test class to the classifier which matches this predicted class with an accuracy score module of the classifier and returns the results. </a:t>
            </a:r>
          </a:p>
          <a:p>
            <a:pPr algn="just"/>
            <a:r>
              <a:rPr lang="en-US" sz="2300" dirty="0"/>
              <a:t>Finally, prediction is </a:t>
            </a:r>
            <a:r>
              <a:rPr lang="en-GB" sz="2300" dirty="0"/>
              <a:t>done for given test classes and accuracy score is predicted. The output of this algorithm will be the accuracy score. Based on accuracy score  the suitable classifier is implemented for further classification in this project.</a:t>
            </a:r>
            <a:endParaRPr lang="en-US" sz="2300" dirty="0"/>
          </a:p>
        </p:txBody>
      </p:sp>
      <p:sp>
        <p:nvSpPr>
          <p:cNvPr id="1048712" name="Slide Number Placeholder 5"/>
          <p:cNvSpPr>
            <a:spLocks noGrp="1"/>
          </p:cNvSpPr>
          <p:nvPr>
            <p:ph type="sldNum" sz="quarter" idx="12"/>
          </p:nvPr>
        </p:nvSpPr>
        <p:spPr/>
        <p:txBody>
          <a:bodyPr/>
          <a:lstStyle/>
          <a:p>
            <a:fld id="{96B9CE5D-B6B3-477C-B60B-1D633FD34024}"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IN" sz="3200" b="1" dirty="0" smtClean="0">
                <a:latin typeface="Times New Roman" pitchFamily="18" charset="0"/>
                <a:cs typeface="Times New Roman" pitchFamily="18" charset="0"/>
              </a:rPr>
              <a:t>Predicting Wine Type</a:t>
            </a:r>
            <a:endParaRPr lang="en-US" sz="3200" b="1"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26</a:t>
            </a:fld>
            <a:endParaRPr lang="en-US"/>
          </a:p>
        </p:txBody>
      </p:sp>
      <p:pic>
        <p:nvPicPr>
          <p:cNvPr id="9218" name="Picture 2"/>
          <p:cNvPicPr>
            <a:picLocks noGrp="1" noChangeAspect="1" noChangeArrowheads="1"/>
          </p:cNvPicPr>
          <p:nvPr>
            <p:ph idx="1"/>
          </p:nvPr>
        </p:nvPicPr>
        <p:blipFill>
          <a:blip r:embed="rId2" cstate="print"/>
          <a:srcRect/>
          <a:stretch>
            <a:fillRect/>
          </a:stretch>
        </p:blipFill>
        <p:spPr bwMode="auto">
          <a:xfrm>
            <a:off x="2438400" y="1219200"/>
            <a:ext cx="4495800" cy="2997200"/>
          </a:xfrm>
          <a:prstGeom prst="rect">
            <a:avLst/>
          </a:prstGeom>
          <a:noFill/>
          <a:ln w="9525">
            <a:noFill/>
            <a:miter lim="800000"/>
            <a:headEnd/>
            <a:tailEnd/>
          </a:ln>
        </p:spPr>
      </p:pic>
      <p:sp>
        <p:nvSpPr>
          <p:cNvPr id="8" name="TextBox 7"/>
          <p:cNvSpPr txBox="1"/>
          <p:nvPr/>
        </p:nvSpPr>
        <p:spPr>
          <a:xfrm>
            <a:off x="1143000" y="4419600"/>
            <a:ext cx="7239000" cy="1323439"/>
          </a:xfrm>
          <a:prstGeom prst="rect">
            <a:avLst/>
          </a:prstGeom>
          <a:noFill/>
        </p:spPr>
        <p:txBody>
          <a:bodyPr wrap="square" rtlCol="0">
            <a:spAutoFit/>
          </a:bodyPr>
          <a:lstStyle/>
          <a:p>
            <a:pPr algn="just">
              <a:buFont typeface="Arial" pitchFamily="34" charset="0"/>
              <a:buChar char="•"/>
            </a:pPr>
            <a:r>
              <a:rPr lang="en-GB" sz="2000" dirty="0" smtClean="0">
                <a:latin typeface="Times New Roman" pitchFamily="18" charset="0"/>
                <a:cs typeface="Times New Roman" pitchFamily="18" charset="0"/>
              </a:rPr>
              <a:t>The number of red wine samples is about 1/3 of the number of white wine samples.</a:t>
            </a:r>
          </a:p>
          <a:p>
            <a:pPr algn="just">
              <a:buFont typeface="Arial" pitchFamily="34" charset="0"/>
              <a:buChar char="•"/>
            </a:pPr>
            <a:r>
              <a:rPr lang="en-GB" sz="2000" dirty="0" smtClean="0">
                <a:latin typeface="Times New Roman" pitchFamily="18" charset="0"/>
                <a:cs typeface="Times New Roman" pitchFamily="18" charset="0"/>
              </a:rPr>
              <a:t> It is still pretty big number and it should be good enough for our prediction. </a:t>
            </a:r>
            <a:endParaRPr lang="en-US" sz="2000" dirty="0">
              <a:latin typeface="Times New Roman" pitchFamily="18" charset="0"/>
              <a:cs typeface="Times New Roman" pitchFamily="18" charset="0"/>
            </a:endParaRPr>
          </a:p>
        </p:txBody>
      </p:sp>
      <p:pic>
        <p:nvPicPr>
          <p:cNvPr id="9219" name="Picture 3"/>
          <p:cNvPicPr>
            <a:picLocks noChangeAspect="1" noChangeArrowheads="1"/>
          </p:cNvPicPr>
          <p:nvPr/>
        </p:nvPicPr>
        <p:blipFill>
          <a:blip r:embed="rId3" cstate="print"/>
          <a:srcRect/>
          <a:stretch>
            <a:fillRect/>
          </a:stretch>
        </p:blipFill>
        <p:spPr bwMode="auto">
          <a:xfrm>
            <a:off x="6857999" y="3098798"/>
            <a:ext cx="1447801" cy="711201"/>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Slide Number Placeholder 5"/>
          <p:cNvSpPr>
            <a:spLocks noGrp="1"/>
          </p:cNvSpPr>
          <p:nvPr>
            <p:ph type="sldNum" sz="quarter" idx="12"/>
          </p:nvPr>
        </p:nvSpPr>
        <p:spPr/>
        <p:txBody>
          <a:bodyPr/>
          <a:lstStyle/>
          <a:p>
            <a:fld id="{96B9CE5D-B6B3-477C-B60B-1D633FD34024}" type="slidenum">
              <a:rPr lang="en-US" smtClean="0"/>
              <a:pPr/>
              <a:t>27</a:t>
            </a:fld>
            <a:endParaRPr lang="en-US"/>
          </a:p>
        </p:txBody>
      </p:sp>
      <p:pic>
        <p:nvPicPr>
          <p:cNvPr id="10242" name="Picture 2"/>
          <p:cNvPicPr>
            <a:picLocks noGrp="1" noChangeAspect="1" noChangeArrowheads="1"/>
          </p:cNvPicPr>
          <p:nvPr>
            <p:ph idx="1"/>
          </p:nvPr>
        </p:nvPicPr>
        <p:blipFill>
          <a:blip r:embed="rId2" cstate="print"/>
          <a:srcRect/>
          <a:stretch>
            <a:fillRect/>
          </a:stretch>
        </p:blipFill>
        <p:spPr bwMode="auto">
          <a:xfrm>
            <a:off x="914400" y="457200"/>
            <a:ext cx="7372350" cy="3276600"/>
          </a:xfrm>
          <a:prstGeom prst="rect">
            <a:avLst/>
          </a:prstGeom>
          <a:noFill/>
          <a:ln w="9525">
            <a:noFill/>
            <a:miter lim="800000"/>
            <a:headEnd/>
            <a:tailEnd/>
          </a:ln>
        </p:spPr>
      </p:pic>
      <p:pic>
        <p:nvPicPr>
          <p:cNvPr id="10243" name="Picture 3"/>
          <p:cNvPicPr>
            <a:picLocks noChangeAspect="1" noChangeArrowheads="1"/>
          </p:cNvPicPr>
          <p:nvPr/>
        </p:nvPicPr>
        <p:blipFill>
          <a:blip r:embed="rId3" cstate="print"/>
          <a:srcRect/>
          <a:stretch>
            <a:fillRect/>
          </a:stretch>
        </p:blipFill>
        <p:spPr bwMode="auto">
          <a:xfrm>
            <a:off x="5029200" y="4038600"/>
            <a:ext cx="3721100" cy="1066800"/>
          </a:xfrm>
          <a:prstGeom prst="rect">
            <a:avLst/>
          </a:prstGeom>
          <a:noFill/>
          <a:ln w="9525">
            <a:noFill/>
            <a:miter lim="800000"/>
            <a:headEnd/>
            <a:tailEnd/>
          </a:ln>
        </p:spPr>
      </p:pic>
      <p:pic>
        <p:nvPicPr>
          <p:cNvPr id="10244" name="Picture 4"/>
          <p:cNvPicPr>
            <a:picLocks noChangeAspect="1" noChangeArrowheads="1"/>
          </p:cNvPicPr>
          <p:nvPr/>
        </p:nvPicPr>
        <p:blipFill>
          <a:blip r:embed="rId4" cstate="print"/>
          <a:srcRect/>
          <a:stretch>
            <a:fillRect/>
          </a:stretch>
        </p:blipFill>
        <p:spPr bwMode="auto">
          <a:xfrm>
            <a:off x="685800" y="3886200"/>
            <a:ext cx="4452233" cy="2233612"/>
          </a:xfrm>
          <a:prstGeom prst="rect">
            <a:avLst/>
          </a:prstGeom>
          <a:noFill/>
          <a:ln w="9525">
            <a:noFill/>
            <a:miter lim="800000"/>
            <a:headEnd/>
            <a:tailEnd/>
          </a:ln>
        </p:spPr>
      </p:pic>
      <p:pic>
        <p:nvPicPr>
          <p:cNvPr id="10245" name="Picture 5"/>
          <p:cNvPicPr>
            <a:picLocks noChangeAspect="1" noChangeArrowheads="1"/>
          </p:cNvPicPr>
          <p:nvPr/>
        </p:nvPicPr>
        <p:blipFill>
          <a:blip r:embed="rId5" cstate="print"/>
          <a:srcRect/>
          <a:stretch>
            <a:fillRect/>
          </a:stretch>
        </p:blipFill>
        <p:spPr bwMode="auto">
          <a:xfrm>
            <a:off x="5562600" y="5410201"/>
            <a:ext cx="2133600" cy="7620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4648200"/>
          </a:xfrm>
        </p:spPr>
        <p:txBody>
          <a:bodyPr>
            <a:normAutofit/>
          </a:bodyPr>
          <a:lstStyle/>
          <a:p>
            <a:pPr algn="just"/>
            <a:r>
              <a:rPr lang="en-GB" sz="2800" dirty="0" smtClean="0">
                <a:latin typeface="Times New Roman" pitchFamily="18" charset="0"/>
                <a:cs typeface="Times New Roman" pitchFamily="18" charset="0"/>
              </a:rPr>
              <a:t>Since this is a binary classification task we used logistic regression.</a:t>
            </a:r>
          </a:p>
          <a:p>
            <a:pPr algn="just"/>
            <a:r>
              <a:rPr lang="en-GB" sz="2800" dirty="0" smtClean="0">
                <a:latin typeface="Times New Roman" pitchFamily="18" charset="0"/>
                <a:cs typeface="Times New Roman" pitchFamily="18" charset="0"/>
              </a:rPr>
              <a:t>As you can see, we got a wonderful result with 99.49 % accuracy. Only 10 of 1950 wine samples were misclassified. This result is really sufficient and obtained through a very simple model.</a:t>
            </a:r>
          </a:p>
          <a:p>
            <a:pPr algn="just"/>
            <a:r>
              <a:rPr lang="en-GB" sz="2800" dirty="0" smtClean="0">
                <a:latin typeface="Times New Roman" pitchFamily="18" charset="0"/>
                <a:cs typeface="Times New Roman" pitchFamily="18" charset="0"/>
              </a:rPr>
              <a:t>This is also confirmed with the normalized confusion matrix on the left. The diagonal elements are close to 1 (dark) and off-diagonal elements are close to 0 (bright). </a:t>
            </a:r>
            <a:endParaRPr lang="en-US" sz="28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GB" sz="3200" b="1" dirty="0" smtClean="0">
                <a:latin typeface="Times New Roman" pitchFamily="18" charset="0"/>
                <a:cs typeface="Times New Roman" pitchFamily="18" charset="0"/>
              </a:rPr>
              <a:t>Predicting Quality Class of Wine</a:t>
            </a:r>
            <a:r>
              <a:rPr lang="en-GB"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96B9CE5D-B6B3-477C-B60B-1D633FD34024}" type="slidenum">
              <a:rPr lang="en-US" smtClean="0"/>
              <a:pPr/>
              <a:t>29</a:t>
            </a:fld>
            <a:endParaRPr lang="en-US"/>
          </a:p>
        </p:txBody>
      </p:sp>
      <p:pic>
        <p:nvPicPr>
          <p:cNvPr id="11266" name="Picture 2"/>
          <p:cNvPicPr>
            <a:picLocks noGrp="1" noChangeAspect="1" noChangeArrowheads="1"/>
          </p:cNvPicPr>
          <p:nvPr>
            <p:ph idx="1"/>
          </p:nvPr>
        </p:nvPicPr>
        <p:blipFill>
          <a:blip r:embed="rId2" cstate="print"/>
          <a:srcRect/>
          <a:stretch>
            <a:fillRect/>
          </a:stretch>
        </p:blipFill>
        <p:spPr bwMode="auto">
          <a:xfrm>
            <a:off x="1066800" y="1066800"/>
            <a:ext cx="5108972" cy="3405981"/>
          </a:xfrm>
          <a:prstGeom prst="rect">
            <a:avLst/>
          </a:prstGeom>
          <a:noFill/>
          <a:ln w="9525">
            <a:no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6172200" y="2895600"/>
            <a:ext cx="1924050" cy="1021409"/>
          </a:xfrm>
          <a:prstGeom prst="rect">
            <a:avLst/>
          </a:prstGeom>
          <a:noFill/>
          <a:ln w="9525">
            <a:noFill/>
            <a:miter lim="800000"/>
            <a:headEnd/>
            <a:tailEnd/>
          </a:ln>
        </p:spPr>
      </p:pic>
      <p:sp>
        <p:nvSpPr>
          <p:cNvPr id="9" name="Rectangle 8"/>
          <p:cNvSpPr/>
          <p:nvPr/>
        </p:nvSpPr>
        <p:spPr>
          <a:xfrm>
            <a:off x="762000" y="4572000"/>
            <a:ext cx="7848600" cy="1938992"/>
          </a:xfrm>
          <a:prstGeom prst="rect">
            <a:avLst/>
          </a:prstGeom>
        </p:spPr>
        <p:txBody>
          <a:bodyPr wrap="square">
            <a:spAutoFit/>
          </a:bodyPr>
          <a:lstStyle/>
          <a:p>
            <a:pPr algn="just"/>
            <a:r>
              <a:rPr lang="en-GB" sz="2000" dirty="0" smtClean="0">
                <a:latin typeface="Times New Roman" pitchFamily="18" charset="0"/>
                <a:cs typeface="Times New Roman" pitchFamily="18" charset="0"/>
              </a:rPr>
              <a:t>We grouped wine quality scores into three qualitative buckets as per the table above.</a:t>
            </a:r>
          </a:p>
          <a:p>
            <a:pPr algn="just"/>
            <a:r>
              <a:rPr lang="en-GB" sz="2000" dirty="0" smtClean="0">
                <a:latin typeface="Times New Roman" pitchFamily="18" charset="0"/>
                <a:cs typeface="Times New Roman" pitchFamily="18" charset="0"/>
              </a:rPr>
              <a:t>● The distribution data by wine quality classes is confirming the imbalance between classes.</a:t>
            </a:r>
          </a:p>
          <a:p>
            <a:pPr algn="just"/>
            <a:r>
              <a:rPr lang="en-GB" sz="2000" dirty="0" smtClean="0">
                <a:latin typeface="Times New Roman" pitchFamily="18" charset="0"/>
                <a:cs typeface="Times New Roman" pitchFamily="18" charset="0"/>
              </a:rPr>
              <a:t>● The number of samples in high quality class is pretty small and we could expect that could cause problems to our models. </a:t>
            </a:r>
            <a:endParaRPr lang="en-US" sz="20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274638"/>
          </a:xfrm>
        </p:spPr>
        <p:txBody>
          <a:bodyPr>
            <a:normAutofit fontScale="90000"/>
          </a:bodyPr>
          <a:lstStyle/>
          <a:p>
            <a:endParaRPr lang="en-US" dirty="0"/>
          </a:p>
        </p:txBody>
      </p:sp>
      <p:sp>
        <p:nvSpPr>
          <p:cNvPr id="6" name="Slide Number Placeholder 5"/>
          <p:cNvSpPr>
            <a:spLocks noGrp="1"/>
          </p:cNvSpPr>
          <p:nvPr>
            <p:ph type="sldNum" sz="quarter" idx="12"/>
          </p:nvPr>
        </p:nvSpPr>
        <p:spPr/>
        <p:txBody>
          <a:bodyPr/>
          <a:lstStyle/>
          <a:p>
            <a:fld id="{96B9CE5D-B6B3-477C-B60B-1D633FD34024}" type="slidenum">
              <a:rPr lang="en-US" smtClean="0"/>
              <a:pPr/>
              <a:t>30</a:t>
            </a:fld>
            <a:endParaRPr lang="en-US"/>
          </a:p>
        </p:txBody>
      </p:sp>
      <p:pic>
        <p:nvPicPr>
          <p:cNvPr id="12290" name="Picture 2"/>
          <p:cNvPicPr>
            <a:picLocks noGrp="1" noChangeAspect="1" noChangeArrowheads="1"/>
          </p:cNvPicPr>
          <p:nvPr>
            <p:ph idx="1"/>
          </p:nvPr>
        </p:nvPicPr>
        <p:blipFill>
          <a:blip r:embed="rId2" cstate="print"/>
          <a:srcRect/>
          <a:stretch>
            <a:fillRect/>
          </a:stretch>
        </p:blipFill>
        <p:spPr bwMode="auto">
          <a:xfrm>
            <a:off x="-457200" y="228600"/>
            <a:ext cx="10134600" cy="2895600"/>
          </a:xfrm>
          <a:prstGeom prst="rect">
            <a:avLst/>
          </a:prstGeom>
          <a:noFill/>
          <a:ln w="9525">
            <a:noFill/>
            <a:miter lim="800000"/>
            <a:headEnd/>
            <a:tailEnd/>
          </a:ln>
        </p:spPr>
      </p:pic>
      <p:sp>
        <p:nvSpPr>
          <p:cNvPr id="8" name="Rectangle 7"/>
          <p:cNvSpPr/>
          <p:nvPr/>
        </p:nvSpPr>
        <p:spPr>
          <a:xfrm>
            <a:off x="533400" y="4114800"/>
            <a:ext cx="8305800" cy="1938992"/>
          </a:xfrm>
          <a:prstGeom prst="rect">
            <a:avLst/>
          </a:prstGeom>
        </p:spPr>
        <p:txBody>
          <a:bodyPr wrap="square">
            <a:spAutoFit/>
          </a:bodyPr>
          <a:lstStyle/>
          <a:p>
            <a:pPr algn="just"/>
            <a:r>
              <a:rPr lang="en-GB" sz="2000" dirty="0" smtClean="0">
                <a:latin typeface="Times New Roman" pitchFamily="18" charset="0"/>
                <a:cs typeface="Times New Roman" pitchFamily="18" charset="0"/>
              </a:rPr>
              <a:t>From the normalized confusion matrices above, we can easily see which model performs better</a:t>
            </a:r>
          </a:p>
          <a:p>
            <a:pPr algn="just"/>
            <a:r>
              <a:rPr lang="en-GB" sz="2000" dirty="0" smtClean="0">
                <a:latin typeface="Times New Roman" pitchFamily="18" charset="0"/>
                <a:cs typeface="Times New Roman" pitchFamily="18" charset="0"/>
              </a:rPr>
              <a:t>● The diagonal elements for Random Forest Classifier are darker and off-diagonal elements brighter than for the other two models</a:t>
            </a:r>
          </a:p>
          <a:p>
            <a:pPr algn="just"/>
            <a:r>
              <a:rPr lang="en-GB" sz="2000" dirty="0" smtClean="0">
                <a:latin typeface="Times New Roman" pitchFamily="18" charset="0"/>
                <a:cs typeface="Times New Roman" pitchFamily="18" charset="0"/>
              </a:rPr>
              <a:t>● Due to better performance for medium quality wines, Support Vector Machine Classifier slightly outperforms Decision Tree Classifier </a:t>
            </a:r>
            <a:endParaRPr lang="en-US" sz="2000" dirty="0">
              <a:latin typeface="Times New Roman" pitchFamily="18" charset="0"/>
              <a:cs typeface="Times New Roman" pitchFamily="18" charset="0"/>
            </a:endParaRPr>
          </a:p>
        </p:txBody>
      </p:sp>
      <p:pic>
        <p:nvPicPr>
          <p:cNvPr id="12291" name="Picture 3"/>
          <p:cNvPicPr>
            <a:picLocks noChangeAspect="1" noChangeArrowheads="1"/>
          </p:cNvPicPr>
          <p:nvPr/>
        </p:nvPicPr>
        <p:blipFill>
          <a:blip r:embed="rId3" cstate="print"/>
          <a:srcRect/>
          <a:stretch>
            <a:fillRect/>
          </a:stretch>
        </p:blipFill>
        <p:spPr bwMode="auto">
          <a:xfrm>
            <a:off x="3810000" y="2971800"/>
            <a:ext cx="1709737" cy="924524"/>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AA75C6-C6F8-4740-A556-A072CFCB86E9}"/>
              </a:ext>
            </a:extLst>
          </p:cNvPr>
          <p:cNvSpPr>
            <a:spLocks noGrp="1"/>
          </p:cNvSpPr>
          <p:nvPr>
            <p:ph type="title"/>
          </p:nvPr>
        </p:nvSpPr>
        <p:spPr>
          <a:xfrm>
            <a:off x="381000" y="0"/>
            <a:ext cx="8229600" cy="1143000"/>
          </a:xfrm>
        </p:spPr>
        <p:txBody>
          <a:bodyPr>
            <a:normAutofit/>
          </a:bodyPr>
          <a:lstStyle/>
          <a:p>
            <a:r>
              <a:rPr lang="en-US" sz="4000" dirty="0">
                <a:latin typeface="Times New Roman" pitchFamily="18" charset="0"/>
                <a:cs typeface="Times New Roman" pitchFamily="18" charset="0"/>
              </a:rPr>
              <a:t>Conclusion</a:t>
            </a:r>
            <a:endParaRPr lang="en-IN" sz="4000"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C31B1B08-FF7B-409B-932E-5674091FA970}"/>
              </a:ext>
            </a:extLst>
          </p:cNvPr>
          <p:cNvSpPr>
            <a:spLocks noGrp="1"/>
          </p:cNvSpPr>
          <p:nvPr>
            <p:ph idx="1"/>
          </p:nvPr>
        </p:nvSpPr>
        <p:spPr>
          <a:xfrm>
            <a:off x="381000" y="1066800"/>
            <a:ext cx="8552329" cy="4566304"/>
          </a:xfrm>
        </p:spPr>
        <p:txBody>
          <a:bodyPr>
            <a:noAutofit/>
          </a:bodyPr>
          <a:lstStyle/>
          <a:p>
            <a:pPr algn="just"/>
            <a:r>
              <a:rPr lang="en-GB" sz="2000" dirty="0" smtClean="0">
                <a:latin typeface="Times New Roman" pitchFamily="18" charset="0"/>
                <a:cs typeface="Times New Roman" pitchFamily="18" charset="0"/>
              </a:rPr>
              <a:t>We have achieved our goals with relatively good results. In the Exploratory Data Analysis step we were able to discover several relationships between physicochemical attributes and wine types and they could be used for red or white wine classification.</a:t>
            </a:r>
          </a:p>
          <a:p>
            <a:pPr algn="just"/>
            <a:r>
              <a:rPr lang="en-IN" sz="2000" dirty="0" smtClean="0">
                <a:solidFill>
                  <a:srgbClr val="000000"/>
                </a:solidFill>
                <a:effectLst/>
                <a:latin typeface="Times New Roman" pitchFamily="18" charset="0"/>
                <a:ea typeface="Times New Roman" panose="02020603050405020304" pitchFamily="18" charset="0"/>
                <a:cs typeface="Times New Roman" pitchFamily="18" charset="0"/>
              </a:rPr>
              <a:t>Density  </a:t>
            </a:r>
            <a:r>
              <a:rPr lang="en-IN" sz="2000" dirty="0">
                <a:solidFill>
                  <a:srgbClr val="000000"/>
                </a:solidFill>
                <a:effectLst/>
                <a:latin typeface="Times New Roman" pitchFamily="18" charset="0"/>
                <a:ea typeface="Times New Roman" panose="02020603050405020304" pitchFamily="18" charset="0"/>
                <a:cs typeface="Times New Roman" pitchFamily="18" charset="0"/>
              </a:rPr>
              <a:t>and  Alcohol beverage volume has been found to be major  </a:t>
            </a:r>
            <a:r>
              <a:rPr lang="en-IN" sz="2000" dirty="0" smtClean="0">
                <a:solidFill>
                  <a:srgbClr val="000000"/>
                </a:solidFill>
                <a:effectLst/>
                <a:latin typeface="Times New Roman" pitchFamily="18" charset="0"/>
                <a:ea typeface="Times New Roman" panose="02020603050405020304" pitchFamily="18" charset="0"/>
                <a:cs typeface="Times New Roman" pitchFamily="18" charset="0"/>
              </a:rPr>
              <a:t>factors determining </a:t>
            </a:r>
            <a:r>
              <a:rPr lang="en-IN" sz="2000" dirty="0">
                <a:solidFill>
                  <a:srgbClr val="000000"/>
                </a:solidFill>
                <a:effectLst/>
                <a:latin typeface="Times New Roman" pitchFamily="18" charset="0"/>
                <a:ea typeface="Times New Roman" panose="02020603050405020304" pitchFamily="18" charset="0"/>
                <a:cs typeface="Times New Roman" pitchFamily="18" charset="0"/>
              </a:rPr>
              <a:t>quality  of red  wine or white wine being used. </a:t>
            </a:r>
            <a:endParaRPr lang="en-IN" sz="2000" dirty="0" smtClean="0">
              <a:solidFill>
                <a:srgbClr val="000000"/>
              </a:solidFill>
              <a:effectLst/>
              <a:latin typeface="Times New Roman" pitchFamily="18" charset="0"/>
              <a:ea typeface="Times New Roman" panose="02020603050405020304" pitchFamily="18" charset="0"/>
              <a:cs typeface="Times New Roman" pitchFamily="18" charset="0"/>
            </a:endParaRPr>
          </a:p>
          <a:p>
            <a:pPr algn="just"/>
            <a:r>
              <a:rPr lang="en-GB" sz="2000" dirty="0" smtClean="0">
                <a:latin typeface="Times New Roman" pitchFamily="18" charset="0"/>
                <a:cs typeface="Times New Roman" pitchFamily="18" charset="0"/>
              </a:rPr>
              <a:t>In the first wine type classification  a simple Logistic Regression model was able to obtain an excellent result with 99.49% accuracy.</a:t>
            </a:r>
          </a:p>
          <a:p>
            <a:pPr algn="just"/>
            <a:r>
              <a:rPr lang="en-GB" sz="2000" dirty="0" smtClean="0">
                <a:latin typeface="Times New Roman" pitchFamily="18" charset="0"/>
                <a:cs typeface="Times New Roman" pitchFamily="18" charset="0"/>
              </a:rPr>
              <a:t>In the second wine quality classification we tried three classifiers. Due to imbalance in data distribution and very few samples for high quality wines. they were not able to bring us the desired results. Random Forest was the best classifier with the accuracy score of 81.13%. </a:t>
            </a:r>
          </a:p>
          <a:p>
            <a:pPr algn="just"/>
            <a:r>
              <a:rPr lang="en-GB" sz="2000" dirty="0" smtClean="0">
                <a:latin typeface="Times New Roman" pitchFamily="18" charset="0"/>
                <a:cs typeface="Times New Roman" pitchFamily="18" charset="0"/>
              </a:rPr>
              <a:t>We can conclude that it is possible to predict the type of a wine and its quality from the physicochemical attributes, but for the quality classification some improvements are needed by employing other methods and/or fine tuning used models. </a:t>
            </a:r>
            <a:endParaRPr lang="en-IN" sz="2000" dirty="0">
              <a:solidFill>
                <a:srgbClr val="000000"/>
              </a:solidFill>
              <a:effectLst/>
              <a:latin typeface="Times New Roman" pitchFamily="18" charset="0"/>
              <a:ea typeface="Times New Roman" panose="02020603050405020304"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3CDA036F-AE13-4D90-8CC7-CEF27CC1EFDC}"/>
              </a:ext>
            </a:extLst>
          </p:cNvPr>
          <p:cNvSpPr>
            <a:spLocks noGrp="1"/>
          </p:cNvSpPr>
          <p:nvPr>
            <p:ph type="sldNum" sz="quarter" idx="12"/>
          </p:nvPr>
        </p:nvSpPr>
        <p:spPr/>
        <p:txBody>
          <a:bodyPr/>
          <a:lstStyle/>
          <a:p>
            <a:fld id="{96B9CE5D-B6B3-477C-B60B-1D633FD34024}" type="slidenum">
              <a:rPr lang="en-US" smtClean="0"/>
              <a:pPr/>
              <a:t>31</a:t>
            </a:fld>
            <a:endParaRPr lang="en-US"/>
          </a:p>
        </p:txBody>
      </p:sp>
    </p:spTree>
    <p:extLst>
      <p:ext uri="{BB962C8B-B14F-4D97-AF65-F5344CB8AC3E}">
        <p14:creationId xmlns:p14="http://schemas.microsoft.com/office/powerpoint/2010/main" val="831489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47496E-3FE3-4021-8AC1-33B43A2FE5DE}"/>
              </a:ext>
            </a:extLst>
          </p:cNvPr>
          <p:cNvSpPr>
            <a:spLocks noGrp="1"/>
          </p:cNvSpPr>
          <p:nvPr>
            <p:ph type="title"/>
          </p:nvPr>
        </p:nvSpPr>
        <p:spPr>
          <a:xfrm>
            <a:off x="457200" y="0"/>
            <a:ext cx="8229600" cy="1143000"/>
          </a:xfrm>
        </p:spPr>
        <p:txBody>
          <a:bodyPr>
            <a:normAutofit/>
          </a:bodyPr>
          <a:lstStyle/>
          <a:p>
            <a:r>
              <a:rPr lang="en-US" sz="4000" dirty="0">
                <a:latin typeface="Times New Roman" pitchFamily="18" charset="0"/>
                <a:cs typeface="Times New Roman" pitchFamily="18" charset="0"/>
              </a:rPr>
              <a:t>Future Work</a:t>
            </a:r>
            <a:endParaRPr lang="en-IN" sz="4000"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77A51429-7FC5-4F5C-A871-CC80325A96C6}"/>
              </a:ext>
            </a:extLst>
          </p:cNvPr>
          <p:cNvSpPr>
            <a:spLocks noGrp="1"/>
          </p:cNvSpPr>
          <p:nvPr>
            <p:ph idx="1"/>
          </p:nvPr>
        </p:nvSpPr>
        <p:spPr>
          <a:xfrm>
            <a:off x="304800" y="1143000"/>
            <a:ext cx="8458200" cy="4953000"/>
          </a:xfrm>
        </p:spPr>
        <p:txBody>
          <a:bodyPr>
            <a:noAutofit/>
          </a:bodyPr>
          <a:lstStyle/>
          <a:p>
            <a:pPr marL="540385" algn="just">
              <a:lnSpc>
                <a:spcPct val="115000"/>
              </a:lnSpc>
            </a:pPr>
            <a:r>
              <a:rPr lang="en-US" sz="2000" dirty="0">
                <a:effectLst/>
                <a:latin typeface="Times New Roman" pitchFamily="18" charset="0"/>
                <a:ea typeface="Times New Roman" panose="02020603050405020304" pitchFamily="18" charset="0"/>
                <a:cs typeface="Times New Roman" pitchFamily="18" charset="0"/>
              </a:rPr>
              <a:t>Future enhancements of this project can include implementing machine learning model and algorithms to improve classification, stability, time and performance of the project.</a:t>
            </a:r>
            <a:endParaRPr lang="en-IN" sz="2000" dirty="0">
              <a:effectLst/>
              <a:latin typeface="Times New Roman" pitchFamily="18" charset="0"/>
              <a:ea typeface="Times New Roman" panose="02020603050405020304" pitchFamily="18" charset="0"/>
              <a:cs typeface="Times New Roman" pitchFamily="18" charset="0"/>
            </a:endParaRPr>
          </a:p>
          <a:p>
            <a:pPr marL="540385" algn="just">
              <a:lnSpc>
                <a:spcPct val="115000"/>
              </a:lnSpc>
            </a:pPr>
            <a:r>
              <a:rPr lang="en-US" sz="2000" dirty="0">
                <a:effectLst/>
                <a:latin typeface="Times New Roman" pitchFamily="18" charset="0"/>
                <a:ea typeface="Calibri" panose="020F0502020204030204" pitchFamily="34" charset="0"/>
                <a:cs typeface="Times New Roman" pitchFamily="18" charset="0"/>
              </a:rPr>
              <a:t>Some more features should be added which will in turn improve the accuracy of classification and taste prediction. Also, we have considered only  classification, quality and taste prediction.</a:t>
            </a:r>
          </a:p>
          <a:p>
            <a:pPr marL="540385" algn="just">
              <a:lnSpc>
                <a:spcPct val="115000"/>
              </a:lnSpc>
            </a:pPr>
            <a:r>
              <a:rPr lang="en-US" sz="2000" dirty="0">
                <a:effectLst/>
                <a:latin typeface="Times New Roman" pitchFamily="18" charset="0"/>
                <a:ea typeface="Calibri" panose="020F0502020204030204" pitchFamily="34" charset="0"/>
                <a:cs typeface="Times New Roman" pitchFamily="18" charset="0"/>
              </a:rPr>
              <a:t> So, Brand quality and some logical filters can also be incorporated. </a:t>
            </a:r>
          </a:p>
          <a:p>
            <a:pPr marL="540385" algn="just">
              <a:lnSpc>
                <a:spcPct val="115000"/>
              </a:lnSpc>
            </a:pPr>
            <a:r>
              <a:rPr lang="en-US" sz="2000" dirty="0">
                <a:effectLst/>
                <a:latin typeface="Times New Roman" pitchFamily="18" charset="0"/>
                <a:ea typeface="Times New Roman" panose="02020603050405020304" pitchFamily="18" charset="0"/>
                <a:cs typeface="Times New Roman" pitchFamily="18" charset="0"/>
              </a:rPr>
              <a:t>In the future, broad </a:t>
            </a:r>
            <a:r>
              <a:rPr lang="en-US" sz="2000" dirty="0" smtClean="0">
                <a:effectLst/>
                <a:latin typeface="Times New Roman" pitchFamily="18" charset="0"/>
                <a:ea typeface="Times New Roman" panose="02020603050405020304" pitchFamily="18" charset="0"/>
                <a:cs typeface="Times New Roman" pitchFamily="18" charset="0"/>
              </a:rPr>
              <a:t>high quality data </a:t>
            </a:r>
            <a:r>
              <a:rPr lang="en-US" sz="2000" dirty="0">
                <a:effectLst/>
                <a:latin typeface="Times New Roman" pitchFamily="18" charset="0"/>
                <a:ea typeface="Times New Roman" panose="02020603050405020304" pitchFamily="18" charset="0"/>
                <a:cs typeface="Times New Roman" pitchFamily="18" charset="0"/>
              </a:rPr>
              <a:t>set may be used for experiments and other machine learning techniques may be explored for prediction of wine quality.</a:t>
            </a:r>
          </a:p>
          <a:p>
            <a:pPr marL="540385" algn="just">
              <a:lnSpc>
                <a:spcPct val="115000"/>
              </a:lnSpc>
            </a:pPr>
            <a:r>
              <a:rPr lang="en-US" sz="2000" dirty="0">
                <a:effectLst/>
                <a:latin typeface="Times New Roman" pitchFamily="18" charset="0"/>
                <a:ea typeface="Times New Roman" panose="02020603050405020304" pitchFamily="18" charset="0"/>
                <a:cs typeface="Times New Roman" pitchFamily="18" charset="0"/>
              </a:rPr>
              <a:t> we will expand this analysis to include feature development methods to test whether or not the model's predictive power may be increased. </a:t>
            </a:r>
          </a:p>
          <a:p>
            <a:pPr marL="540385" algn="just">
              <a:lnSpc>
                <a:spcPct val="115000"/>
              </a:lnSpc>
            </a:pPr>
            <a:r>
              <a:rPr lang="en-US" sz="2000" dirty="0">
                <a:effectLst/>
                <a:latin typeface="Times New Roman" pitchFamily="18" charset="0"/>
                <a:ea typeface="Times New Roman" panose="02020603050405020304" pitchFamily="18" charset="0"/>
                <a:cs typeface="Times New Roman" pitchFamily="18" charset="0"/>
              </a:rPr>
              <a:t>In the future, a huge dataset may be used for research, and various machine learning algorithms for wine quality prediction can be investigated.</a:t>
            </a:r>
            <a:endParaRPr lang="en-IN" sz="2000" dirty="0">
              <a:effectLst/>
              <a:latin typeface="Times New Roman" pitchFamily="18" charset="0"/>
              <a:ea typeface="Times New Roman" panose="02020603050405020304" pitchFamily="18" charset="0"/>
              <a:cs typeface="Times New Roman" pitchFamily="18" charset="0"/>
            </a:endParaRPr>
          </a:p>
          <a:p>
            <a:pPr algn="just"/>
            <a:endParaRPr lang="en-IN" sz="2000" dirty="0">
              <a:latin typeface="Times New Roman"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D98B3F83-9D0F-460E-A197-434BDEF911FC}"/>
              </a:ext>
            </a:extLst>
          </p:cNvPr>
          <p:cNvSpPr>
            <a:spLocks noGrp="1"/>
          </p:cNvSpPr>
          <p:nvPr>
            <p:ph type="sldNum" sz="quarter" idx="12"/>
          </p:nvPr>
        </p:nvSpPr>
        <p:spPr/>
        <p:txBody>
          <a:bodyPr/>
          <a:lstStyle/>
          <a:p>
            <a:fld id="{96B9CE5D-B6B3-477C-B60B-1D633FD34024}" type="slidenum">
              <a:rPr lang="en-US" smtClean="0"/>
              <a:pPr/>
              <a:t>32</a:t>
            </a:fld>
            <a:endParaRPr lang="en-US"/>
          </a:p>
        </p:txBody>
      </p:sp>
    </p:spTree>
    <p:extLst>
      <p:ext uri="{BB962C8B-B14F-4D97-AF65-F5344CB8AC3E}">
        <p14:creationId xmlns:p14="http://schemas.microsoft.com/office/powerpoint/2010/main" val="2909699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REFERENCES</a:t>
            </a:r>
          </a:p>
        </p:txBody>
      </p:sp>
      <p:sp>
        <p:nvSpPr>
          <p:cNvPr id="1048714" name="Content Placeholder 2"/>
          <p:cNvSpPr>
            <a:spLocks noGrp="1"/>
          </p:cNvSpPr>
          <p:nvPr>
            <p:ph idx="1"/>
          </p:nvPr>
        </p:nvSpPr>
        <p:spPr>
          <a:xfrm>
            <a:off x="457200" y="1143000"/>
            <a:ext cx="8229600" cy="4525963"/>
          </a:xfrm>
        </p:spPr>
        <p:txBody>
          <a:bodyPr>
            <a:noAutofit/>
          </a:bodyPr>
          <a:lstStyle/>
          <a:p>
            <a:pPr marL="0" indent="0">
              <a:buNone/>
            </a:pPr>
            <a:r>
              <a:rPr lang="en-US" sz="1400" dirty="0">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1.  S.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Shanmuganathan</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P.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Sallis</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and  A.  Narayanan,  “Data  mining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techniquesfor</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modelling seasonal climate effects on Conference on Computational Intelligence Communication Systems and Networks, pp. 82-89, July 2010. </a:t>
            </a:r>
            <a:endParaRPr lang="en-IN" sz="1400" dirty="0">
              <a:effectLst/>
              <a:latin typeface="Times New Roman" pitchFamily="18" charset="0"/>
              <a:ea typeface="Times New Roman" panose="02020603050405020304" pitchFamily="18" charset="0"/>
              <a:cs typeface="Times New Roman" pitchFamily="18" charset="0"/>
            </a:endParaRPr>
          </a:p>
          <a:p>
            <a:pPr marL="0"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2.    “grapevine  yield  and  wine  quality,”  IEEE  International B.  Chen,  C.  Rhodes,  A.  Crawford,  and  L.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Hambuchen</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International  Conference  on Data  Mining  Workshop,  pp.</a:t>
            </a:r>
            <a:r>
              <a:rPr lang="en-IN" sz="1400" spc="20" dirty="0">
                <a:solidFill>
                  <a:srgbClr val="000000"/>
                </a:solidFill>
                <a:effectLst/>
                <a:latin typeface="Times New Roman" pitchFamily="18" charset="0"/>
                <a:ea typeface="Times New Roman" panose="02020603050405020304" pitchFamily="18" charset="0"/>
                <a:cs typeface="Times New Roman" pitchFamily="18" charset="0"/>
              </a:rPr>
              <a:t>142</a:t>
            </a:r>
            <a:r>
              <a:rPr lang="en-IN" sz="1400" dirty="0">
                <a:solidFill>
                  <a:srgbClr val="000000"/>
                </a:solidFill>
                <a:effectLst/>
                <a:latin typeface="Times New Roman" pitchFamily="18" charset="0"/>
                <a:ea typeface="Times New Roman" panose="02020603050405020304" pitchFamily="18" charset="0"/>
                <a:cs typeface="Times New Roman" pitchFamily="18" charset="0"/>
              </a:rPr>
              <a:t>-149, Dec. 2014.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3.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Wineinformatics</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applying data  mining  on  wine  sensory reviews processed by the computational wine wheel,” IEEE UCI Machine  Learning Repository, Wine  quality data set.</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a:t>
            </a:r>
            <a:r>
              <a:rPr lang="en-IN" sz="1400" spc="1120"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spc="1120" dirty="0">
                <a:solidFill>
                  <a:srgbClr val="000000"/>
                </a:solidFill>
                <a:effectLst/>
                <a:latin typeface="Times New Roman" pitchFamily="18" charset="0"/>
                <a:ea typeface="Times New Roman" panose="02020603050405020304" pitchFamily="18" charset="0"/>
                <a:cs typeface="Times New Roman" pitchFamily="18" charset="0"/>
              </a:rPr>
              <a:t>  4.</a:t>
            </a:r>
            <a:r>
              <a:rPr lang="en-IN" sz="1400" dirty="0">
                <a:solidFill>
                  <a:srgbClr val="000000"/>
                </a:solidFill>
                <a:effectLst/>
                <a:latin typeface="Times New Roman" pitchFamily="18" charset="0"/>
                <a:ea typeface="Times New Roman" panose="02020603050405020304" pitchFamily="18" charset="0"/>
                <a:cs typeface="Times New Roman" pitchFamily="18" charset="0"/>
              </a:rPr>
              <a:t>J.  Han,  M.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Kamber</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and  J.  Pei,  “Classification:  Basic Concepts,”</a:t>
            </a:r>
            <a:r>
              <a:rPr lang="en-IN" sz="1400" spc="335" dirty="0">
                <a:solidFill>
                  <a:srgbClr val="000000"/>
                </a:solidFill>
                <a:effectLst/>
                <a:latin typeface="Times New Roman" pitchFamily="18" charset="0"/>
                <a:ea typeface="Times New Roman" panose="02020603050405020304" pitchFamily="18" charset="0"/>
                <a:cs typeface="Times New Roman" pitchFamily="18" charset="0"/>
              </a:rPr>
              <a:t> </a:t>
            </a:r>
            <a:r>
              <a:rPr lang="en-IN" sz="1400" dirty="0">
                <a:solidFill>
                  <a:srgbClr val="000000"/>
                </a:solidFill>
                <a:effectLst/>
                <a:latin typeface="Times New Roman" pitchFamily="18" charset="0"/>
                <a:ea typeface="Times New Roman" panose="02020603050405020304" pitchFamily="18" charset="0"/>
                <a:cs typeface="Times New Roman" pitchFamily="18" charset="0"/>
              </a:rPr>
              <a:t>in Data  Mining Concepts and Techniques, 3rd ed.,  Waltham,  MA,  USA:  Morgan  Kaufmann,  2012,  pp. </a:t>
            </a:r>
            <a:r>
              <a:rPr lang="en-IN" sz="1400" spc="20" dirty="0">
                <a:solidFill>
                  <a:srgbClr val="000000"/>
                </a:solidFill>
                <a:effectLst/>
                <a:latin typeface="Times New Roman" pitchFamily="18" charset="0"/>
                <a:ea typeface="Times New Roman" panose="02020603050405020304" pitchFamily="18" charset="0"/>
                <a:cs typeface="Times New Roman" pitchFamily="18" charset="0"/>
              </a:rPr>
              <a:t>327</a:t>
            </a:r>
            <a:r>
              <a:rPr lang="en-IN" sz="1400" dirty="0">
                <a:solidFill>
                  <a:srgbClr val="000000"/>
                </a:solidFill>
                <a:effectLst/>
                <a:latin typeface="Times New Roman" pitchFamily="18" charset="0"/>
                <a:ea typeface="Times New Roman" panose="02020603050405020304" pitchFamily="18" charset="0"/>
                <a:cs typeface="Times New Roman" pitchFamily="18" charset="0"/>
              </a:rPr>
              <a:t>-393.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spc="1120" dirty="0">
                <a:solidFill>
                  <a:srgbClr val="000000"/>
                </a:solidFill>
                <a:effectLst/>
                <a:latin typeface="Times New Roman" pitchFamily="18" charset="0"/>
                <a:ea typeface="Times New Roman" panose="02020603050405020304" pitchFamily="18" charset="0"/>
                <a:cs typeface="Times New Roman" pitchFamily="18" charset="0"/>
              </a:rPr>
              <a:t>  5. </a:t>
            </a:r>
            <a:r>
              <a:rPr lang="en-IN" sz="1400" dirty="0">
                <a:solidFill>
                  <a:srgbClr val="000000"/>
                </a:solidFill>
                <a:effectLst/>
                <a:latin typeface="Times New Roman" pitchFamily="18" charset="0"/>
                <a:ea typeface="Times New Roman" panose="02020603050405020304" pitchFamily="18" charset="0"/>
                <a:cs typeface="Times New Roman" pitchFamily="18" charset="0"/>
              </a:rPr>
              <a:t>J.  Han,  M.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Kamber</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and J.  Pei, “Classification:  Advanced Methods,”</a:t>
            </a:r>
            <a:r>
              <a:rPr lang="en-IN" sz="1400" spc="440" dirty="0">
                <a:solidFill>
                  <a:srgbClr val="000000"/>
                </a:solidFill>
                <a:effectLst/>
                <a:latin typeface="Times New Roman" pitchFamily="18" charset="0"/>
                <a:ea typeface="Times New Roman" panose="02020603050405020304" pitchFamily="18" charset="0"/>
                <a:cs typeface="Times New Roman" pitchFamily="18" charset="0"/>
              </a:rPr>
              <a:t> </a:t>
            </a:r>
            <a:r>
              <a:rPr lang="en-IN" sz="1400" dirty="0">
                <a:solidFill>
                  <a:srgbClr val="000000"/>
                </a:solidFill>
                <a:effectLst/>
                <a:latin typeface="Times New Roman" pitchFamily="18" charset="0"/>
                <a:ea typeface="Times New Roman" panose="02020603050405020304" pitchFamily="18" charset="0"/>
                <a:cs typeface="Times New Roman" pitchFamily="18" charset="0"/>
              </a:rPr>
              <a:t>in  Data  Mining  Concepts and  Techniques, 3rd ed.,  Waltham,  MA,  USA:  Morgan  Kaufmann,  2012,  pp. </a:t>
            </a:r>
            <a:r>
              <a:rPr lang="en-IN" sz="1400" spc="20" dirty="0">
                <a:solidFill>
                  <a:srgbClr val="000000"/>
                </a:solidFill>
                <a:effectLst/>
                <a:latin typeface="Times New Roman" pitchFamily="18" charset="0"/>
                <a:ea typeface="Times New Roman" panose="02020603050405020304" pitchFamily="18" charset="0"/>
                <a:cs typeface="Times New Roman" pitchFamily="18" charset="0"/>
              </a:rPr>
              <a:t>393</a:t>
            </a:r>
            <a:r>
              <a:rPr lang="en-IN" sz="1400" dirty="0">
                <a:solidFill>
                  <a:srgbClr val="000000"/>
                </a:solidFill>
                <a:effectLst/>
                <a:latin typeface="Times New Roman" pitchFamily="18" charset="0"/>
                <a:ea typeface="Times New Roman" panose="02020603050405020304" pitchFamily="18" charset="0"/>
                <a:cs typeface="Times New Roman" pitchFamily="18" charset="0"/>
              </a:rPr>
              <a:t>-443.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spc="1120" dirty="0">
                <a:solidFill>
                  <a:srgbClr val="000000"/>
                </a:solidFill>
                <a:effectLst/>
                <a:latin typeface="Times New Roman" pitchFamily="18" charset="0"/>
                <a:ea typeface="Times New Roman" panose="02020603050405020304" pitchFamily="18" charset="0"/>
                <a:cs typeface="Times New Roman" pitchFamily="18" charset="0"/>
              </a:rPr>
              <a:t>  6.</a:t>
            </a:r>
            <a:r>
              <a:rPr lang="en-IN" sz="1400" dirty="0">
                <a:solidFill>
                  <a:srgbClr val="000000"/>
                </a:solidFill>
                <a:effectLst/>
                <a:latin typeface="Times New Roman" pitchFamily="18" charset="0"/>
                <a:ea typeface="Times New Roman" panose="02020603050405020304" pitchFamily="18" charset="0"/>
                <a:cs typeface="Times New Roman" pitchFamily="18" charset="0"/>
              </a:rPr>
              <a:t>W. L. Martinez,  A.  R.  Martinez,  “Supervised  Learning”  in Computational Statistics Handbook with MATLAB, 2nd ed., Boca Raton,  FL, USA:  Chapman &amp;  Hall/CRC, 2007,  pp. </a:t>
            </a:r>
            <a:r>
              <a:rPr lang="en-IN" sz="1400" spc="20" dirty="0">
                <a:solidFill>
                  <a:srgbClr val="000000"/>
                </a:solidFill>
                <a:effectLst/>
                <a:latin typeface="Times New Roman" pitchFamily="18" charset="0"/>
                <a:ea typeface="Times New Roman" panose="02020603050405020304" pitchFamily="18" charset="0"/>
                <a:cs typeface="Times New Roman" pitchFamily="18" charset="0"/>
              </a:rPr>
              <a:t>363</a:t>
            </a:r>
            <a:r>
              <a:rPr lang="en-IN" sz="1400" dirty="0">
                <a:solidFill>
                  <a:srgbClr val="000000"/>
                </a:solidFill>
                <a:effectLst/>
                <a:latin typeface="Times New Roman" pitchFamily="18" charset="0"/>
                <a:ea typeface="Times New Roman" panose="02020603050405020304" pitchFamily="18" charset="0"/>
                <a:cs typeface="Times New Roman" pitchFamily="18" charset="0"/>
              </a:rPr>
              <a:t>-431.</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lnSpc>
                <a:spcPct val="115000"/>
              </a:lnSpc>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0" indent="0">
              <a:buNone/>
            </a:pPr>
            <a:endParaRPr lang="en-US" sz="1400" dirty="0">
              <a:latin typeface="Times New Roman" pitchFamily="18" charset="0"/>
              <a:cs typeface="Times New Roman" pitchFamily="18" charset="0"/>
            </a:endParaRPr>
          </a:p>
        </p:txBody>
      </p:sp>
      <p:sp>
        <p:nvSpPr>
          <p:cNvPr id="1048717" name="Slide Number Placeholder 5"/>
          <p:cNvSpPr>
            <a:spLocks noGrp="1"/>
          </p:cNvSpPr>
          <p:nvPr>
            <p:ph type="sldNum" sz="quarter" idx="12"/>
          </p:nvPr>
        </p:nvSpPr>
        <p:spPr/>
        <p:txBody>
          <a:bodyPr/>
          <a:lstStyle/>
          <a:p>
            <a:fld id="{96B9CE5D-B6B3-477C-B60B-1D633FD34024}"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4D5F5A-EF1E-475F-BF70-CD282595A571}"/>
              </a:ext>
            </a:extLst>
          </p:cNvPr>
          <p:cNvSpPr>
            <a:spLocks noGrp="1"/>
          </p:cNvSpPr>
          <p:nvPr>
            <p:ph type="title"/>
          </p:nvPr>
        </p:nvSpPr>
        <p:spPr>
          <a:xfrm>
            <a:off x="457200" y="0"/>
            <a:ext cx="8229600" cy="1143000"/>
          </a:xfrm>
        </p:spPr>
        <p:txBody>
          <a:bodyPr>
            <a:normAutofit/>
          </a:bodyPr>
          <a:lstStyle/>
          <a:p>
            <a:r>
              <a:rPr lang="en-US" sz="3600" dirty="0">
                <a:latin typeface="Times New Roman" pitchFamily="18" charset="0"/>
                <a:cs typeface="Times New Roman" pitchFamily="18" charset="0"/>
              </a:rPr>
              <a:t>REFERENCES</a:t>
            </a:r>
            <a:endParaRPr lang="en-IN" sz="3600"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8AC27478-B6EF-4656-8CD9-3AB5A436CD15}"/>
              </a:ext>
            </a:extLst>
          </p:cNvPr>
          <p:cNvSpPr>
            <a:spLocks noGrp="1"/>
          </p:cNvSpPr>
          <p:nvPr>
            <p:ph idx="1"/>
          </p:nvPr>
        </p:nvSpPr>
        <p:spPr>
          <a:xfrm>
            <a:off x="457200" y="990600"/>
            <a:ext cx="8229600" cy="4525963"/>
          </a:xfrm>
        </p:spPr>
        <p:txBody>
          <a:bodyPr>
            <a:noAutofit/>
          </a:bodyPr>
          <a:lstStyle/>
          <a:p>
            <a:pPr marL="197485" indent="0" algn="just">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7.     Gupta, Y., 2018. Selection of important features and predicting wine quality  using  machine  learning  techniques.  Procedia  Computer Science</a:t>
            </a:r>
            <a:r>
              <a:rPr lang="en-IN" sz="1400" spc="10" dirty="0">
                <a:solidFill>
                  <a:srgbClr val="000000"/>
                </a:solidFill>
                <a:effectLst/>
                <a:latin typeface="Times New Roman" pitchFamily="18" charset="0"/>
                <a:ea typeface="Times New Roman" panose="02020603050405020304" pitchFamily="18" charset="0"/>
                <a:cs typeface="Times New Roman" pitchFamily="18" charset="0"/>
              </a:rPr>
              <a:t>, </a:t>
            </a:r>
            <a:r>
              <a:rPr lang="en-IN" sz="1400" dirty="0">
                <a:solidFill>
                  <a:srgbClr val="000000"/>
                </a:solidFill>
                <a:effectLst/>
                <a:latin typeface="Times New Roman" pitchFamily="18" charset="0"/>
                <a:ea typeface="Times New Roman" panose="02020603050405020304" pitchFamily="18" charset="0"/>
                <a:cs typeface="Times New Roman" pitchFamily="18" charset="0"/>
              </a:rPr>
              <a:t>125, pp.305-312.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pPr>
            <a:r>
              <a:rPr lang="en-IN" sz="1400" spc="2895" dirty="0">
                <a:solidFill>
                  <a:srgbClr val="000000"/>
                </a:solidFill>
                <a:effectLst/>
                <a:latin typeface="Times New Roman" pitchFamily="18" charset="0"/>
                <a:ea typeface="Times New Roman" panose="02020603050405020304" pitchFamily="18" charset="0"/>
                <a:cs typeface="Times New Roman" pitchFamily="18" charset="0"/>
              </a:rPr>
              <a:t>8</a:t>
            </a:r>
            <a:r>
              <a:rPr lang="en-IN" sz="1400" dirty="0">
                <a:solidFill>
                  <a:srgbClr val="000000"/>
                </a:solidFill>
                <a:effectLst/>
                <a:latin typeface="Times New Roman" pitchFamily="18" charset="0"/>
                <a:ea typeface="Times New Roman" panose="02020603050405020304" pitchFamily="18" charset="0"/>
                <a:cs typeface="Times New Roman" pitchFamily="18" charset="0"/>
              </a:rPr>
              <a:t>Sun,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Danzer</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and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Thiel</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(1997) “Classification  of  wine samples  by means  of  artificial  neural  networks  and  discrimination  analytical methods”.  Fresenius  Journal  of  Analytical  Chemistry.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pPr>
            <a:r>
              <a:rPr lang="en-IN" sz="1400" spc="2895"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pPr>
            <a:r>
              <a:rPr lang="en-IN" sz="1400" spc="2895" dirty="0">
                <a:solidFill>
                  <a:srgbClr val="000000"/>
                </a:solidFill>
                <a:effectLst/>
                <a:latin typeface="Times New Roman" pitchFamily="18" charset="0"/>
                <a:ea typeface="Times New Roman" panose="02020603050405020304" pitchFamily="18" charset="0"/>
                <a:cs typeface="Times New Roman" pitchFamily="18" charset="0"/>
              </a:rPr>
              <a:t>9</a:t>
            </a:r>
            <a:r>
              <a:rPr lang="en-IN" sz="1400" dirty="0">
                <a:solidFill>
                  <a:srgbClr val="000000"/>
                </a:solidFill>
                <a:effectLst/>
                <a:latin typeface="Times New Roman" pitchFamily="18" charset="0"/>
                <a:ea typeface="Times New Roman" panose="02020603050405020304" pitchFamily="18" charset="0"/>
                <a:cs typeface="Times New Roman" pitchFamily="18" charset="0"/>
              </a:rPr>
              <a:t>Cortez, P., Teixeira, J.,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Cerdeira</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A., Almeida, F., Matos, T. and Reis, J., 2009, October. Using data mining for wine quality assessment. In International Conference on Discovery Science (pp. 66-79). Springer, Berlin, Heidelberg.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pPr>
            <a:r>
              <a:rPr lang="en-IN" sz="1400" spc="2895"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0" indent="0" algn="just">
              <a:buNone/>
            </a:pPr>
            <a:r>
              <a:rPr lang="en-IN" sz="1400" spc="2895" dirty="0">
                <a:solidFill>
                  <a:srgbClr val="000000"/>
                </a:solidFill>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pPr>
            <a:r>
              <a:rPr lang="en-IN" sz="1400" dirty="0">
                <a:solidFill>
                  <a:srgbClr val="000000"/>
                </a:solidFill>
                <a:effectLst/>
                <a:latin typeface="Times New Roman" pitchFamily="18" charset="0"/>
                <a:ea typeface="Times New Roman" panose="02020603050405020304" pitchFamily="18" charset="0"/>
                <a:cs typeface="Times New Roman" pitchFamily="18" charset="0"/>
              </a:rPr>
              <a:t>10.  Moreno, Gonzalez-Weller, Gutierrez, Marino,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Camean</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Gonzalez and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Hardisson</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(2007)  “Differentiation  of  two  Canary  DO  red  wines according  to their  metal  content  from inductively  coupled plasma optical emission spectrometry and graphite furnace atomic absorption spectrometry  by  using  Probabilistic  Neural  Networks”.  </a:t>
            </a:r>
            <a:r>
              <a:rPr lang="en-IN" sz="1400" dirty="0" err="1">
                <a:solidFill>
                  <a:srgbClr val="000000"/>
                </a:solidFill>
                <a:effectLst/>
                <a:latin typeface="Times New Roman" pitchFamily="18" charset="0"/>
                <a:ea typeface="Times New Roman" panose="02020603050405020304" pitchFamily="18" charset="0"/>
                <a:cs typeface="Times New Roman" pitchFamily="18" charset="0"/>
              </a:rPr>
              <a:t>Talanta</a:t>
            </a:r>
            <a:r>
              <a:rPr lang="en-IN" sz="1400" dirty="0">
                <a:solidFill>
                  <a:srgbClr val="000000"/>
                </a:solidFill>
                <a:effectLst/>
                <a:latin typeface="Times New Roman" pitchFamily="18" charset="0"/>
                <a:ea typeface="Times New Roman" panose="02020603050405020304" pitchFamily="18" charset="0"/>
                <a:cs typeface="Times New Roman" pitchFamily="18" charset="0"/>
              </a:rPr>
              <a:t>  72 263</a:t>
            </a:r>
            <a:r>
              <a:rPr lang="en-IN" sz="1400" spc="20" dirty="0">
                <a:solidFill>
                  <a:srgbClr val="000000"/>
                </a:solidFill>
                <a:effectLst/>
                <a:latin typeface="Times New Roman" pitchFamily="18" charset="0"/>
                <a:ea typeface="Times New Roman" panose="02020603050405020304" pitchFamily="18" charset="0"/>
                <a:cs typeface="Times New Roman" pitchFamily="18" charset="0"/>
              </a:rPr>
              <a:t>–</a:t>
            </a:r>
            <a:r>
              <a:rPr lang="en-IN" sz="1400" dirty="0">
                <a:solidFill>
                  <a:srgbClr val="000000"/>
                </a:solidFill>
                <a:effectLst/>
                <a:latin typeface="Times New Roman" pitchFamily="18" charset="0"/>
                <a:ea typeface="Times New Roman" panose="02020603050405020304" pitchFamily="18" charset="0"/>
                <a:cs typeface="Times New Roman" pitchFamily="18" charset="0"/>
              </a:rPr>
              <a:t>268.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tabLst>
                <a:tab pos="760730" algn="l"/>
              </a:tabLst>
            </a:pPr>
            <a:r>
              <a:rPr lang="en-US" sz="1400" dirty="0">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tabLst>
                <a:tab pos="760730" algn="l"/>
              </a:tabLst>
            </a:pPr>
            <a:r>
              <a:rPr lang="en-US" sz="1400" dirty="0">
                <a:effectLst/>
                <a:latin typeface="Times New Roman" pitchFamily="18" charset="0"/>
                <a:ea typeface="Times New Roman" panose="02020603050405020304" pitchFamily="18" charset="0"/>
                <a:cs typeface="Times New Roman" pitchFamily="18" charset="0"/>
              </a:rPr>
              <a:t>11.  “Evaluation and Analysis Model of Wine Quality Based on Mathematical Model ISSN 2330-2038 E-ISSN 2330-2046,Jinan University, </a:t>
            </a:r>
            <a:r>
              <a:rPr lang="en-US" sz="1400" dirty="0" err="1">
                <a:effectLst/>
                <a:latin typeface="Times New Roman" pitchFamily="18" charset="0"/>
                <a:ea typeface="Times New Roman" panose="02020603050405020304" pitchFamily="18" charset="0"/>
                <a:cs typeface="Times New Roman" pitchFamily="18" charset="0"/>
              </a:rPr>
              <a:t>Zhuhai,China</a:t>
            </a:r>
            <a:r>
              <a:rPr lang="en-US" sz="1400" dirty="0">
                <a:effectLst/>
                <a:latin typeface="Times New Roman" pitchFamily="18" charset="0"/>
                <a:ea typeface="Times New Roman" panose="02020603050405020304" pitchFamily="18" charset="0"/>
                <a:cs typeface="Times New Roman" pitchFamily="18" charset="0"/>
              </a:rPr>
              <a:t>. [2] Paulo Cortez1, Juliana Teixeira1, </a:t>
            </a:r>
            <a:r>
              <a:rPr lang="en-US" sz="1400" dirty="0" err="1">
                <a:effectLst/>
                <a:latin typeface="Times New Roman" pitchFamily="18" charset="0"/>
                <a:ea typeface="Times New Roman" panose="02020603050405020304" pitchFamily="18" charset="0"/>
                <a:cs typeface="Times New Roman" pitchFamily="18" charset="0"/>
              </a:rPr>
              <a:t>Ant´onio</a:t>
            </a:r>
            <a:r>
              <a:rPr lang="en-US" sz="1400" dirty="0">
                <a:effectLst/>
                <a:latin typeface="Times New Roman" pitchFamily="18" charset="0"/>
                <a:ea typeface="Times New Roman" panose="02020603050405020304" pitchFamily="18" charset="0"/>
                <a:cs typeface="Times New Roman" pitchFamily="18" charset="0"/>
              </a:rPr>
              <a:t> </a:t>
            </a:r>
            <a:r>
              <a:rPr lang="en-US" sz="1400" dirty="0" err="1">
                <a:effectLst/>
                <a:latin typeface="Times New Roman" pitchFamily="18" charset="0"/>
                <a:ea typeface="Times New Roman" panose="02020603050405020304" pitchFamily="18" charset="0"/>
                <a:cs typeface="Times New Roman" pitchFamily="18" charset="0"/>
              </a:rPr>
              <a:t>Cerdeira</a:t>
            </a:r>
            <a:r>
              <a:rPr lang="en-US" sz="1400" dirty="0">
                <a:effectLst/>
                <a:latin typeface="Times New Roman" pitchFamily="18" charset="0"/>
                <a:ea typeface="Times New Roman" panose="02020603050405020304" pitchFamily="18" charset="0"/>
                <a:cs typeface="Times New Roman" pitchFamily="18" charset="0"/>
              </a:rPr>
              <a:t>.</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tabLst>
                <a:tab pos="760730" algn="l"/>
              </a:tabLst>
            </a:pPr>
            <a:r>
              <a:rPr lang="en-US" sz="1400" dirty="0">
                <a:effectLst/>
                <a:latin typeface="Times New Roman" pitchFamily="18" charset="0"/>
                <a:ea typeface="Times New Roman" panose="02020603050405020304" pitchFamily="18" charset="0"/>
                <a:cs typeface="Times New Roman" pitchFamily="18" charset="0"/>
              </a:rPr>
              <a:t> </a:t>
            </a:r>
            <a:endParaRPr lang="en-IN" sz="1400" dirty="0">
              <a:effectLst/>
              <a:latin typeface="Times New Roman" pitchFamily="18" charset="0"/>
              <a:ea typeface="Times New Roman" panose="02020603050405020304" pitchFamily="18" charset="0"/>
              <a:cs typeface="Times New Roman" pitchFamily="18" charset="0"/>
            </a:endParaRPr>
          </a:p>
          <a:p>
            <a:pPr marL="197485" indent="0" algn="just">
              <a:buNone/>
              <a:tabLst>
                <a:tab pos="760730" algn="l"/>
              </a:tabLst>
            </a:pPr>
            <a:r>
              <a:rPr lang="en-US" sz="1400" dirty="0">
                <a:effectLst/>
                <a:latin typeface="Times New Roman" pitchFamily="18" charset="0"/>
                <a:ea typeface="Times New Roman" panose="02020603050405020304" pitchFamily="18" charset="0"/>
                <a:cs typeface="Times New Roman" pitchFamily="18" charset="0"/>
              </a:rPr>
              <a:t>12.  “The Classification of White Wine and Red Wine According to Their Physicochemical </a:t>
            </a:r>
            <a:r>
              <a:rPr lang="en-US" sz="1400" dirty="0" err="1">
                <a:effectLst/>
                <a:latin typeface="Times New Roman" pitchFamily="18" charset="0"/>
                <a:ea typeface="Times New Roman" panose="02020603050405020304" pitchFamily="18" charset="0"/>
                <a:cs typeface="Times New Roman" pitchFamily="18" charset="0"/>
              </a:rPr>
              <a:t>Qualities”,ISSN</a:t>
            </a:r>
            <a:r>
              <a:rPr lang="en-US" sz="1400" dirty="0">
                <a:effectLst/>
                <a:latin typeface="Times New Roman" pitchFamily="18" charset="0"/>
                <a:ea typeface="Times New Roman" panose="02020603050405020304" pitchFamily="18" charset="0"/>
                <a:cs typeface="Times New Roman" pitchFamily="18" charset="0"/>
              </a:rPr>
              <a:t> 2147-67992147- 6799,3rd September 2016 [[4] B. Chen, C. Rhodes, A. Crawford, and L. </a:t>
            </a:r>
            <a:r>
              <a:rPr lang="en-US" sz="1400" dirty="0" err="1">
                <a:effectLst/>
                <a:latin typeface="Times New Roman" pitchFamily="18" charset="0"/>
                <a:ea typeface="Times New Roman" panose="02020603050405020304" pitchFamily="18" charset="0"/>
                <a:cs typeface="Times New Roman" pitchFamily="18" charset="0"/>
              </a:rPr>
              <a:t>Hambuchen</a:t>
            </a:r>
            <a:r>
              <a:rPr lang="en-US" sz="1400" dirty="0">
                <a:effectLst/>
                <a:latin typeface="Times New Roman" pitchFamily="18" charset="0"/>
                <a:ea typeface="Times New Roman" panose="02020603050405020304" pitchFamily="18" charset="0"/>
                <a:cs typeface="Times New Roman" pitchFamily="18" charset="0"/>
              </a:rPr>
              <a:t>, “</a:t>
            </a:r>
            <a:r>
              <a:rPr lang="en-US" sz="1400" dirty="0" err="1">
                <a:effectLst/>
                <a:latin typeface="Times New Roman" pitchFamily="18" charset="0"/>
                <a:ea typeface="Times New Roman" panose="02020603050405020304" pitchFamily="18" charset="0"/>
                <a:cs typeface="Times New Roman" pitchFamily="18" charset="0"/>
              </a:rPr>
              <a:t>Wineinformatics</a:t>
            </a:r>
            <a:r>
              <a:rPr lang="en-US" sz="1400" dirty="0">
                <a:effectLst/>
                <a:latin typeface="Times New Roman" pitchFamily="18" charset="0"/>
                <a:ea typeface="Times New Roman" panose="02020603050405020304" pitchFamily="18" charset="0"/>
                <a:cs typeface="Times New Roman" pitchFamily="18" charset="0"/>
              </a:rPr>
              <a:t>: applying data mining on wine sensory reviews processed by the computational wine wheel,” IEEE International Conference on Data Mining Workshop, pp. 142-149, Dec. 2014.</a:t>
            </a:r>
            <a:endParaRPr lang="en-IN" sz="1400" dirty="0">
              <a:effectLst/>
              <a:latin typeface="Times New Roman" pitchFamily="18" charset="0"/>
              <a:ea typeface="Times New Roman" panose="02020603050405020304" pitchFamily="18" charset="0"/>
              <a:cs typeface="Times New Roman" pitchFamily="18" charset="0"/>
            </a:endParaRPr>
          </a:p>
          <a:p>
            <a:pPr marL="0" indent="0">
              <a:buNone/>
            </a:pPr>
            <a:endParaRPr lang="en-IN" sz="1400" dirty="0">
              <a:latin typeface="Times New Roman" pitchFamily="18" charset="0"/>
              <a:cs typeface="Times New Roman" pitchFamily="18" charset="0"/>
            </a:endParaRPr>
          </a:p>
        </p:txBody>
      </p:sp>
      <p:sp>
        <p:nvSpPr>
          <p:cNvPr id="6" name="Slide Number Placeholder 5">
            <a:extLst>
              <a:ext uri="{FF2B5EF4-FFF2-40B4-BE49-F238E27FC236}">
                <a16:creationId xmlns="" xmlns:a16="http://schemas.microsoft.com/office/drawing/2014/main" id="{5B34F6D0-5F95-4B47-9A98-F27E564D02D1}"/>
              </a:ext>
            </a:extLst>
          </p:cNvPr>
          <p:cNvSpPr>
            <a:spLocks noGrp="1"/>
          </p:cNvSpPr>
          <p:nvPr>
            <p:ph type="sldNum" sz="quarter" idx="12"/>
          </p:nvPr>
        </p:nvSpPr>
        <p:spPr/>
        <p:txBody>
          <a:bodyPr/>
          <a:lstStyle/>
          <a:p>
            <a:fld id="{96B9CE5D-B6B3-477C-B60B-1D633FD34024}" type="slidenum">
              <a:rPr lang="en-US" smtClean="0"/>
              <a:pPr/>
              <a:t>34</a:t>
            </a:fld>
            <a:endParaRPr lang="en-US"/>
          </a:p>
        </p:txBody>
      </p:sp>
    </p:spTree>
    <p:extLst>
      <p:ext uri="{BB962C8B-B14F-4D97-AF65-F5344CB8AC3E}">
        <p14:creationId xmlns:p14="http://schemas.microsoft.com/office/powerpoint/2010/main" val="3669024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TotalTime>
  <Words>2431</Words>
  <Application>Microsoft Office PowerPoint</Application>
  <PresentationFormat>On-screen Show (4:3)</PresentationFormat>
  <Paragraphs>230</Paragraphs>
  <Slides>34</Slides>
  <Notes>2</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  Department of Computer Science and Engineering Final year project work </vt:lpstr>
      <vt:lpstr>LIST OF CONTENTS</vt:lpstr>
      <vt:lpstr>INTRODUCTION</vt:lpstr>
      <vt:lpstr>OBJECTIVES</vt:lpstr>
      <vt:lpstr>SCOPE OF THE PROJECT</vt:lpstr>
      <vt:lpstr>EXISTING SYSTEM WITH LIMITATIONS</vt:lpstr>
      <vt:lpstr>PROPOSED SYSTEM WITH ADVANTAGES</vt:lpstr>
      <vt:lpstr>SYSTEM ARCHITECTURE </vt:lpstr>
      <vt:lpstr>FUNCTIONAL ARCHITECTURE</vt:lpstr>
      <vt:lpstr>SYSTEM REQUIREMENTS</vt:lpstr>
      <vt:lpstr>LIST OF MODULES</vt:lpstr>
      <vt:lpstr>MODULE DESCRIPTION</vt:lpstr>
      <vt:lpstr>PowerPoint Presentation</vt:lpstr>
      <vt:lpstr>PowerPoint Presentation</vt:lpstr>
      <vt:lpstr>PowerPoint Presentation</vt:lpstr>
      <vt:lpstr>PowerPoint Presentation</vt:lpstr>
      <vt:lpstr>PowerPoint Presentation</vt:lpstr>
      <vt:lpstr>PowerPoint Presentation</vt:lpstr>
      <vt:lpstr>Correlations</vt:lpstr>
      <vt:lpstr>Alcohol-Quality-Type</vt:lpstr>
      <vt:lpstr>Volatile Acidity - Quality - Type </vt:lpstr>
      <vt:lpstr>Density - Alcohol </vt:lpstr>
      <vt:lpstr>Residual Sugar - Total Sulfur Dioxide - Type  </vt:lpstr>
      <vt:lpstr>PowerPoint Presentation</vt:lpstr>
      <vt:lpstr>PowerPoint Presentation</vt:lpstr>
      <vt:lpstr>Predicting Wine Type</vt:lpstr>
      <vt:lpstr>PowerPoint Presentation</vt:lpstr>
      <vt:lpstr>PowerPoint Presentation</vt:lpstr>
      <vt:lpstr>Predicting Quality Class of Wine </vt:lpstr>
      <vt:lpstr>PowerPoint Presentation</vt:lpstr>
      <vt:lpstr>Conclusion</vt:lpstr>
      <vt:lpstr>Future Work</vt:lpstr>
      <vt:lpstr>REFERENCES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Classification</dc:title>
  <dc:creator>Hariharan</dc:creator>
  <cp:lastModifiedBy>Dell 7390</cp:lastModifiedBy>
  <cp:revision>16</cp:revision>
  <dcterms:created xsi:type="dcterms:W3CDTF">2019-01-21T22:19:06Z</dcterms:created>
  <dcterms:modified xsi:type="dcterms:W3CDTF">2024-09-16T13:17:21Z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59dc532bdb0c4299bd9a7677ddf56d5f</vt:lpwstr>
  </property>
</Properties>
</file>